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</p:sldIdLst>
  <p:sldSz cx="12192000" cy="6858000" type="screen16x9"/>
  <p:notesSz cx="6858000" cy="9144000"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 xmlns:a="http://schemas.openxmlformats.org/drawingml/2006/main" showComments="0" lastView="sldView">
  <p:slideViewPr>
    <p:cSldViewPr>
      <p:cViewPr varScale="1"/>
      <p:guideLst/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6858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6858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6158000"/>
            <a:ext cx="12192000" cy="700000"/>
          </a:xfrm>
          <a:solidFill>
            <a:srgbClr val="14366B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1200000" y="1500000"/>
            <a:ext cx="10500000" cy="600000"/>
          </a:xfrm>
        </p:spPr>
        <p:txBody>
          <a:bodyPr wrap="square" rtlCol="0" anchor="t">
            <a:normAutofit/>
          </a:bodyPr>
          <a:lstStyle/>
          <a:p>
            <a:pPr algn="l" spcBef="0" spcAft="80000">
              <a:spcBef>
                <a:spcPts val="0"/>
              </a:spcBef>
              <a:spcAft>
                <a:spcPts val="8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00A8CC"/>
                </a:solidFill>
                <a:latin typeface="Segoe UI"/>
                <a:ea typeface="Microsoft YaHei"/>
              </a:rPr>
              <a:t>立项提案 · 技术评审材料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2150000"/>
            <a:ext cx="10800000" cy="16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5000" b="1" i="0" dirty="0">
                <a:solidFill>
                  <a:srgbClr val="FFFFFF"/>
                </a:solidFill>
                <a:latin typeface="Segoe UI"/>
                <a:ea typeface="Microsoft YaHei"/>
              </a:rPr>
              <a:t>让基础设施自解释、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5000" b="1" i="0" dirty="0">
                <a:solidFill>
                  <a:srgbClr val="FFFFFF"/>
                </a:solidFill>
                <a:latin typeface="Segoe UI"/>
                <a:ea typeface="Microsoft YaHei"/>
              </a:rPr>
              <a:t>可安全自愈、可证明恢复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950000"/>
            <a:ext cx="10800000" cy="900000"/>
          </a:xfrm>
        </p:spPr>
        <p:txBody>
          <a:bodyPr wrap="square" rtlCol="0" anchor="t">
            <a:normAutofit/>
          </a:bodyPr>
          <a:lstStyle/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00000"/>
              </a:lnSpc>
            </a:pPr>
            <a:r>
              <a:rPr lang="zh-CN" altLang="en-US" sz="2600" b="1" i="0" dirty="0">
                <a:solidFill>
                  <a:srgbClr val="2E86DE"/>
                </a:solidFill>
                <a:latin typeface="Segoe UI"/>
                <a:ea typeface="Microsoft YaHei"/>
              </a:rPr>
              <a:t>把 CISRE 确立为企业内部统一的运维平台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900" b="0" i="0" dirty="0">
                <a:solidFill>
                  <a:srgbClr val="BFC9D9"/>
                </a:solidFill>
                <a:latin typeface="Segoe UI"/>
                <a:ea typeface="Microsoft YaHei"/>
              </a:rPr>
              <a:t>一个可作为内部 SRE Harness 的可靠基础框架，覆盖从云到数据库的全栈基础设施</a:t>
            </a:r>
          </a:p>
        </p:txBody>
      </p:sp>
      <p:sp>
        <p:nvSpPr>
          <p:cNvPr id="0" name="rect"/>
          <p:cNvSpPr/>
          <p:nvPr/>
        </p:nvSpPr>
        <p:spPr>
          <a:xfrm>
            <a:off x="1200000" y="5050000"/>
            <a:ext cx="1800000" cy="6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1200000" y="5250000"/>
            <a:ext cx="10800000" cy="5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1500" b="0" i="0" dirty="0">
                <a:solidFill>
                  <a:srgbClr val="8FA0B8"/>
                </a:solidFill>
                <a:latin typeface="Segoe UI"/>
                <a:ea typeface="Microsoft YaHei"/>
              </a:rPr>
              <a:t>CISRE 5.3.0  ·  对标 deepseek-harness (dsh 0.1.0-rc.6)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500" b="0" i="0" dirty="0">
                <a:solidFill>
                  <a:srgbClr val="8FA0B8"/>
                </a:solidFill>
                <a:latin typeface="Segoe UI"/>
                <a:ea typeface="Microsoft YaHei"/>
              </a:rPr>
              <a:t>汇报人：＿＿＿＿＿＿    日期：＿＿＿＿＿＿</a:t>
            </a:r>
          </a:p>
        </p:txBody>
      </p:sp>
    </p:spTree>
  </p:cSld>
  <p:clrMapOvr>
    <a:override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AGENDA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目录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520000" y="1300000"/>
            <a:ext cx="1000000" cy="7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1440000"/>
            <a:ext cx="8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600" b="1" i="0" dirty="0">
                <a:solidFill>
                  <a:srgbClr val="2E86DE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0" name="tx"/>
          <p:cNvSpPr/>
          <p:nvPr/>
        </p:nvSpPr>
        <p:spPr>
          <a:xfrm>
            <a:off x="1800000" y="1420000"/>
            <a:ext cx="9500000" cy="4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0B2447"/>
                </a:solidFill>
                <a:latin typeface="Segoe UI"/>
                <a:ea typeface="Microsoft YaHei"/>
              </a:rPr>
              <a:t>现状与痛点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5B6770"/>
                </a:solidFill>
                <a:latin typeface="Segoe UI"/>
                <a:ea typeface="Microsoft YaHei"/>
              </a:rPr>
              <a:t>为什么传统告警、聊天建议、脚本自动化都不够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2250000"/>
            <a:ext cx="1000000" cy="7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2390000"/>
            <a:ext cx="8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600" b="1" i="0" dirty="0">
                <a:solidFill>
                  <a:srgbClr val="2E86DE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0" name="tx"/>
          <p:cNvSpPr/>
          <p:nvPr/>
        </p:nvSpPr>
        <p:spPr>
          <a:xfrm>
            <a:off x="1800000" y="2370000"/>
            <a:ext cx="9500000" cy="4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0B2447"/>
                </a:solidFill>
                <a:latin typeface="Segoe UI"/>
                <a:ea typeface="Microsoft YaHei"/>
              </a:rPr>
              <a:t>我们已有什么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5B6770"/>
                </a:solidFill>
                <a:latin typeface="Segoe UI"/>
                <a:ea typeface="Microsoft YaHei"/>
              </a:rPr>
              <a:t>CISRE 已是一个可审计闭环的 SRE 控制面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3200000"/>
            <a:ext cx="1000000" cy="7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3340000"/>
            <a:ext cx="8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600" b="1" i="0" dirty="0">
                <a:solidFill>
                  <a:srgbClr val="2E86DE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0" name="tx"/>
          <p:cNvSpPr/>
          <p:nvPr/>
        </p:nvSpPr>
        <p:spPr>
          <a:xfrm>
            <a:off x="1800000" y="3320000"/>
            <a:ext cx="9500000" cy="4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0B2447"/>
                </a:solidFill>
                <a:latin typeface="Segoe UI"/>
                <a:ea typeface="Microsoft YaHei"/>
              </a:rPr>
              <a:t>与 DeepSeek Harness 的差距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5B6770"/>
                </a:solidFill>
                <a:latin typeface="Segoe UI"/>
                <a:ea typeface="Microsoft YaHei"/>
              </a:rPr>
              <a:t>控制面已对齐，编排与执行面是缺口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4150000"/>
            <a:ext cx="1000000" cy="7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4290000"/>
            <a:ext cx="8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600" b="1" i="0" dirty="0">
                <a:solidFill>
                  <a:srgbClr val="2E86DE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0" name="tx"/>
          <p:cNvSpPr/>
          <p:nvPr/>
        </p:nvSpPr>
        <p:spPr>
          <a:xfrm>
            <a:off x="1800000" y="4270000"/>
            <a:ext cx="9500000" cy="4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0B2447"/>
                </a:solidFill>
                <a:latin typeface="Segoe UI"/>
                <a:ea typeface="Microsoft YaHei"/>
              </a:rPr>
              <a:t>判定与目标架构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5B6770"/>
                </a:solidFill>
                <a:latin typeface="Segoe UI"/>
                <a:ea typeface="Microsoft YaHei"/>
              </a:rPr>
              <a:t>够做内部 SRE Harness；三层架构覆盖云→数据库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5100000"/>
            <a:ext cx="1000000" cy="7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5240000"/>
            <a:ext cx="8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600" b="1" i="0" dirty="0">
                <a:solidFill>
                  <a:srgbClr val="2E86DE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0" name="tx"/>
          <p:cNvSpPr/>
          <p:nvPr/>
        </p:nvSpPr>
        <p:spPr>
          <a:xfrm>
            <a:off x="1800000" y="5220000"/>
            <a:ext cx="9500000" cy="4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0B2447"/>
                </a:solidFill>
                <a:latin typeface="Segoe UI"/>
                <a:ea typeface="Microsoft YaHei"/>
              </a:rPr>
              <a:t>路线图、风险与决策请求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5B6770"/>
                </a:solidFill>
                <a:latin typeface="Segoe UI"/>
                <a:ea typeface="Microsoft YaHei"/>
              </a:rPr>
              <a:t>三阶段落地 + 诚实风险 + 今天要拍板的事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2 / 23</a:t>
            </a:r>
          </a:p>
        </p:txBody>
      </p:sp>
    </p:spTree>
  </p:cSld>
  <p:clrMapOvr>
    <a:override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6858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6858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1200000" y="1900000"/>
            <a:ext cx="9000000" cy="9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9000" b="1" i="0" dirty="0">
                <a:solidFill>
                  <a:srgbClr val="00A8CC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000000"/>
            <a:ext cx="10500000" cy="8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4400" b="1" i="0" dirty="0">
                <a:solidFill>
                  <a:srgbClr val="FFFFFF"/>
                </a:solidFill>
                <a:latin typeface="Segoe UI"/>
                <a:ea typeface="Microsoft YaHei"/>
              </a:rPr>
              <a:t>现状与痛点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950000"/>
            <a:ext cx="10000000" cy="7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000" b="0" i="0" dirty="0">
                <a:solidFill>
                  <a:srgbClr val="BFC9D9"/>
                </a:solidFill>
                <a:latin typeface="Segoe UI"/>
                <a:ea typeface="Microsoft YaHei"/>
              </a:rPr>
              <a:t>传统方式无法“证明恢复”，经验在平台之外流失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3 / 23</a:t>
            </a:r>
          </a:p>
        </p:txBody>
      </p:sp>
    </p:spTree>
  </p:cSld>
  <p:clrMapOvr>
    <a:override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PROBLEM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现状：三种旧方式都无法“证明恢复”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050000"/>
            <a:ext cx="11200000" cy="4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700" b="1" i="0" dirty="0">
                <a:solidFill>
                  <a:srgbClr val="0B2447"/>
                </a:solidFill>
                <a:latin typeface="Segoe UI"/>
                <a:ea typeface="Microsoft YaHei"/>
              </a:rPr>
              <a:t>核心矛盾：</a:t>
            </a:r>
            <a:r>
              <a:rPr lang="zh-CN" altLang="en-US" sz="1700" b="0" i="0" dirty="0">
                <a:solidFill>
                  <a:srgbClr val="5B6770"/>
                </a:solidFill>
                <a:latin typeface="Segoe UI"/>
                <a:ea typeface="Microsoft YaHei"/>
              </a:rPr>
              <a:t>Kubernetes API 返回 2xx ≠ 业务真的恢复了；重复救火让运维知识留在平台之外。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1500000"/>
            <a:ext cx="3700000" cy="36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770000" y="1700000"/>
            <a:ext cx="3200000" cy="5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2000" b="1" i="0" dirty="0">
                <a:solidFill>
                  <a:srgbClr val="0B2447"/>
                </a:solidFill>
                <a:latin typeface="Segoe UI"/>
                <a:ea typeface="Microsoft YaHei"/>
              </a:rPr>
              <a:t>告警 / 监控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400" b="1" i="0" dirty="0">
                <a:solidFill>
                  <a:srgbClr val="C0392B"/>
                </a:solidFill>
                <a:latin typeface="Segoe UI"/>
                <a:ea typeface="Microsoft YaHei"/>
              </a:rPr>
              <a:t>只会告诉你"有问题"</a:t>
            </a:r>
          </a:p>
        </p:txBody>
      </p:sp>
      <p:sp>
        <p:nvSpPr>
          <p:cNvPr id="0" name="tx"/>
          <p:cNvSpPr/>
          <p:nvPr/>
        </p:nvSpPr>
        <p:spPr>
          <a:xfrm>
            <a:off x="770000" y="2450000"/>
            <a:ext cx="3200000" cy="2500000"/>
          </a:xfrm>
        </p:spPr>
        <p:txBody>
          <a:bodyPr wrap="square" rtlCol="0" anchor="t">
            <a:normAutofit/>
          </a:bodyPr>
          <a:lstStyle/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1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400" b="0" i="0" dirty="0">
                <a:solidFill>
                  <a:srgbClr val="37474F"/>
                </a:solidFill>
                <a:latin typeface="Segoe UI"/>
                <a:ea typeface="Microsoft YaHei"/>
              </a:rPr>
              <a:t>告警风暴，人肉筛选</a:t>
            </a:r>
          </a:p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1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400" b="0" i="0" dirty="0">
                <a:solidFill>
                  <a:srgbClr val="37474F"/>
                </a:solidFill>
                <a:latin typeface="Segoe UI"/>
                <a:ea typeface="Microsoft YaHei"/>
              </a:rPr>
              <a:t>不知道根因、不知道影响面</a:t>
            </a:r>
          </a:p>
        </p:txBody>
      </p:sp>
      <p:sp>
        <p:nvSpPr>
          <p:cNvPr id="0" name="rect"/>
          <p:cNvSpPr/>
          <p:nvPr/>
        </p:nvSpPr>
        <p:spPr>
          <a:xfrm>
            <a:off x="4570000" y="1500000"/>
            <a:ext cx="3700000" cy="36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4820000" y="1700000"/>
            <a:ext cx="3200000" cy="5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2000" b="1" i="0" dirty="0">
                <a:solidFill>
                  <a:srgbClr val="0B2447"/>
                </a:solidFill>
                <a:latin typeface="Segoe UI"/>
                <a:ea typeface="Microsoft YaHei"/>
              </a:rPr>
              <a:t>聊天式 AI 助手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400" b="1" i="0" dirty="0">
                <a:solidFill>
                  <a:srgbClr val="C0392B"/>
                </a:solidFill>
                <a:latin typeface="Segoe UI"/>
                <a:ea typeface="Microsoft YaHei"/>
              </a:rPr>
              <a:t>只给建议、不能闭环</a:t>
            </a:r>
          </a:p>
        </p:txBody>
      </p:sp>
      <p:sp>
        <p:nvSpPr>
          <p:cNvPr id="0" name="tx"/>
          <p:cNvSpPr/>
          <p:nvPr/>
        </p:nvSpPr>
        <p:spPr>
          <a:xfrm>
            <a:off x="4820000" y="2450000"/>
            <a:ext cx="3200000" cy="2500000"/>
          </a:xfrm>
        </p:spPr>
        <p:txBody>
          <a:bodyPr wrap="square" rtlCol="0" anchor="t">
            <a:normAutofit/>
          </a:bodyPr>
          <a:lstStyle/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1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400" b="0" i="0" dirty="0">
                <a:solidFill>
                  <a:srgbClr val="37474F"/>
                </a:solidFill>
                <a:latin typeface="Segoe UI"/>
                <a:ea typeface="Microsoft YaHei"/>
              </a:rPr>
              <a:t>回答没有证据锚定</a:t>
            </a:r>
          </a:p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1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400" b="0" i="0" dirty="0">
                <a:solidFill>
                  <a:srgbClr val="37474F"/>
                </a:solidFill>
                <a:latin typeface="Segoe UI"/>
                <a:ea typeface="Microsoft YaHei"/>
              </a:rPr>
              <a:t>说完就结束，不执行不验证</a:t>
            </a:r>
          </a:p>
        </p:txBody>
      </p:sp>
      <p:sp>
        <p:nvSpPr>
          <p:cNvPr id="0" name="rect"/>
          <p:cNvSpPr/>
          <p:nvPr/>
        </p:nvSpPr>
        <p:spPr>
          <a:xfrm>
            <a:off x="8620000" y="1500000"/>
            <a:ext cx="3700000" cy="36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8870000" y="1700000"/>
            <a:ext cx="3200000" cy="5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2000" b="1" i="0" dirty="0">
                <a:solidFill>
                  <a:srgbClr val="0B2447"/>
                </a:solidFill>
                <a:latin typeface="Segoe UI"/>
                <a:ea typeface="Microsoft YaHei"/>
              </a:rPr>
              <a:t>脚本 / 人工救火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400" b="1" i="0" dirty="0">
                <a:solidFill>
                  <a:srgbClr val="C0392B"/>
                </a:solidFill>
                <a:latin typeface="Segoe UI"/>
                <a:ea typeface="Microsoft YaHei"/>
              </a:rPr>
              <a:t>能执行、但不可靠</a:t>
            </a:r>
          </a:p>
        </p:txBody>
      </p:sp>
      <p:sp>
        <p:nvSpPr>
          <p:cNvPr id="0" name="tx"/>
          <p:cNvSpPr/>
          <p:nvPr/>
        </p:nvSpPr>
        <p:spPr>
          <a:xfrm>
            <a:off x="8870000" y="2450000"/>
            <a:ext cx="3200000" cy="2500000"/>
          </a:xfrm>
        </p:spPr>
        <p:txBody>
          <a:bodyPr wrap="square" rtlCol="0" anchor="t">
            <a:normAutofit/>
          </a:bodyPr>
          <a:lstStyle/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1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400" b="0" i="0" dirty="0">
                <a:solidFill>
                  <a:srgbClr val="37474F"/>
                </a:solidFill>
                <a:latin typeface="Segoe UI"/>
                <a:ea typeface="Microsoft YaHei"/>
              </a:rPr>
              <a:t>缺乏审批与回滚</a:t>
            </a:r>
          </a:p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1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400" b="0" i="0" dirty="0">
                <a:solidFill>
                  <a:srgbClr val="37474F"/>
                </a:solidFill>
                <a:latin typeface="Segoe UI"/>
                <a:ea typeface="Microsoft YaHei"/>
              </a:rPr>
              <a:t>经验散落在个人脑中</a:t>
            </a:r>
          </a:p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1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400" b="0" i="0" dirty="0">
                <a:solidFill>
                  <a:srgbClr val="37474F"/>
                </a:solidFill>
                <a:latin typeface="Segoe UI"/>
                <a:ea typeface="Microsoft YaHei"/>
              </a:rPr>
              <a:t>"成功"无法证明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4 / 23</a:t>
            </a:r>
          </a:p>
        </p:txBody>
      </p:sp>
    </p:spTree>
  </p:cSld>
  <p:clrMapOvr>
    <a:override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6858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6858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1200000" y="1900000"/>
            <a:ext cx="9000000" cy="9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9000" b="1" i="0" dirty="0">
                <a:solidFill>
                  <a:srgbClr val="00A8CC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000000"/>
            <a:ext cx="10500000" cy="8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4400" b="1" i="0" dirty="0">
                <a:solidFill>
                  <a:srgbClr val="FFFFFF"/>
                </a:solidFill>
                <a:latin typeface="Segoe UI"/>
                <a:ea typeface="Microsoft YaHei"/>
              </a:rPr>
              <a:t>我们已有什么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950000"/>
            <a:ext cx="10000000" cy="7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000" b="0" i="0" dirty="0">
                <a:solidFill>
                  <a:srgbClr val="BFC9D9"/>
                </a:solidFill>
                <a:latin typeface="Segoe UI"/>
                <a:ea typeface="Microsoft YaHei"/>
              </a:rPr>
              <a:t>CISRE 已是一个可审计闭环的 SRE 控制面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5 / 23</a:t>
            </a:r>
          </a:p>
        </p:txBody>
      </p:sp>
    </p:spTree>
  </p:cSld>
  <p:clrMapOvr>
    <a:override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ASSETS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我们已有什么：CISRE 5.3.0 不是一个“运维聊天框”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100000"/>
            <a:ext cx="11200000" cy="5258000"/>
          </a:xfrm>
        </p:spPr>
        <p:txBody>
          <a:bodyPr wrap="square" rtlCol="0" anchor="t">
            <a:normAutofit/>
          </a:bodyPr>
          <a:lstStyle/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闭环而非聊天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持久化 SRE 执行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Everything-is-a-Plugin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写后回读 + 恢复验证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Skill 路由 + 成效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多集群 + 全栈适配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6 / 23</a:t>
            </a:r>
          </a:p>
        </p:txBody>
      </p:sp>
    </p:spTree>
  </p:cSld>
  <p:clrMapOvr>
    <a:override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THE LOOP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AgenticOps 闭环：把运维做成可审计的流水线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050000"/>
            <a:ext cx="11200000" cy="4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一条故障链从发现到恢复被固化下来；模型只负责理解与规划，平台负责执行与证明。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1600000"/>
            <a:ext cx="1280000" cy="24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520000" y="1600000"/>
            <a:ext cx="1280000" cy="12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40000" y="175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400" b="1" i="0" dirty="0">
                <a:solidFill>
                  <a:srgbClr val="2E86DE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0" name="tx"/>
          <p:cNvSpPr/>
          <p:nvPr/>
        </p:nvSpPr>
        <p:spPr>
          <a:xfrm>
            <a:off x="640000" y="230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0B2447"/>
                </a:solidFill>
                <a:latin typeface="Segoe UI"/>
                <a:ea typeface="Microsoft YaHei"/>
              </a:rPr>
              <a:t>发现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100" b="0" i="0" dirty="0">
                <a:solidFill>
                  <a:srgbClr val="5B6770"/>
                </a:solidFill>
                <a:latin typeface="Segoe UI"/>
                <a:ea typeface="Microsoft YaHei"/>
              </a:rPr>
              <a:t>告警/事件/巡检</a:t>
            </a:r>
          </a:p>
        </p:txBody>
      </p:sp>
      <p:sp>
        <p:nvSpPr>
          <p:cNvPr id="0" name="tx"/>
          <p:cNvSpPr/>
          <p:nvPr/>
        </p:nvSpPr>
        <p:spPr>
          <a:xfrm>
            <a:off x="1800000" y="2500000"/>
            <a:ext cx="15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5B6770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0" name="rect"/>
          <p:cNvSpPr/>
          <p:nvPr/>
        </p:nvSpPr>
        <p:spPr>
          <a:xfrm>
            <a:off x="1950000" y="1600000"/>
            <a:ext cx="1280000" cy="24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1950000" y="1600000"/>
            <a:ext cx="1280000" cy="12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2070000" y="175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400" b="1" i="0" dirty="0">
                <a:solidFill>
                  <a:srgbClr val="2E86DE"/>
                </a:solidFill>
                <a:latin typeface="Segoe UI"/>
                <a:ea typeface="Microsoft YaHei"/>
              </a:rPr>
              <a:t>2</a:t>
            </a:r>
          </a:p>
        </p:txBody>
      </p:sp>
      <p:sp>
        <p:nvSpPr>
          <p:cNvPr id="0" name="tx"/>
          <p:cNvSpPr/>
          <p:nvPr/>
        </p:nvSpPr>
        <p:spPr>
          <a:xfrm>
            <a:off x="2070000" y="230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0B2447"/>
                </a:solidFill>
                <a:latin typeface="Segoe UI"/>
                <a:ea typeface="Microsoft YaHei"/>
              </a:rPr>
              <a:t>证据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100" b="0" i="0" dirty="0">
                <a:solidFill>
                  <a:srgbClr val="5B6770"/>
                </a:solidFill>
                <a:latin typeface="Segoe UI"/>
                <a:ea typeface="Microsoft YaHei"/>
              </a:rPr>
              <a:t>日志·YAML·事件·拓扑</a:t>
            </a:r>
          </a:p>
        </p:txBody>
      </p:sp>
      <p:sp>
        <p:nvSpPr>
          <p:cNvPr id="0" name="tx"/>
          <p:cNvSpPr/>
          <p:nvPr/>
        </p:nvSpPr>
        <p:spPr>
          <a:xfrm>
            <a:off x="3230000" y="2500000"/>
            <a:ext cx="15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5B6770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0" name="rect"/>
          <p:cNvSpPr/>
          <p:nvPr/>
        </p:nvSpPr>
        <p:spPr>
          <a:xfrm>
            <a:off x="3380000" y="1600000"/>
            <a:ext cx="1280000" cy="24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3380000" y="1600000"/>
            <a:ext cx="1280000" cy="12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3500000" y="175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400" b="1" i="0" dirty="0">
                <a:solidFill>
                  <a:srgbClr val="2E86DE"/>
                </a:solidFill>
                <a:latin typeface="Segoe UI"/>
                <a:ea typeface="Microsoft YaHei"/>
              </a:rPr>
              <a:t>3</a:t>
            </a:r>
          </a:p>
        </p:txBody>
      </p:sp>
      <p:sp>
        <p:nvSpPr>
          <p:cNvPr id="0" name="tx"/>
          <p:cNvSpPr/>
          <p:nvPr/>
        </p:nvSpPr>
        <p:spPr>
          <a:xfrm>
            <a:off x="3500000" y="230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0B2447"/>
                </a:solidFill>
                <a:latin typeface="Segoe UI"/>
                <a:ea typeface="Microsoft YaHei"/>
              </a:rPr>
              <a:t>诊断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100" b="0" i="0" dirty="0">
                <a:solidFill>
                  <a:srgbClr val="5B6770"/>
                </a:solidFill>
                <a:latin typeface="Segoe UI"/>
                <a:ea typeface="Microsoft YaHei"/>
              </a:rPr>
              <a:t>根因假设 + Skill 排序</a:t>
            </a:r>
          </a:p>
        </p:txBody>
      </p:sp>
      <p:sp>
        <p:nvSpPr>
          <p:cNvPr id="0" name="tx"/>
          <p:cNvSpPr/>
          <p:nvPr/>
        </p:nvSpPr>
        <p:spPr>
          <a:xfrm>
            <a:off x="4660000" y="2500000"/>
            <a:ext cx="15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5B6770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0" name="rect"/>
          <p:cNvSpPr/>
          <p:nvPr/>
        </p:nvSpPr>
        <p:spPr>
          <a:xfrm>
            <a:off x="4810000" y="1600000"/>
            <a:ext cx="1280000" cy="24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4810000" y="1600000"/>
            <a:ext cx="1280000" cy="12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4930000" y="175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400" b="1" i="0" dirty="0">
                <a:solidFill>
                  <a:srgbClr val="2E86DE"/>
                </a:solidFill>
                <a:latin typeface="Segoe UI"/>
                <a:ea typeface="Microsoft YaHei"/>
              </a:rPr>
              <a:t>4</a:t>
            </a:r>
          </a:p>
        </p:txBody>
      </p:sp>
      <p:sp>
        <p:nvSpPr>
          <p:cNvPr id="0" name="tx"/>
          <p:cNvSpPr/>
          <p:nvPr/>
        </p:nvSpPr>
        <p:spPr>
          <a:xfrm>
            <a:off x="4930000" y="230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0B2447"/>
                </a:solidFill>
                <a:latin typeface="Segoe UI"/>
                <a:ea typeface="Microsoft YaHei"/>
              </a:rPr>
              <a:t>预演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100" b="0" i="0" dirty="0">
                <a:solidFill>
                  <a:srgbClr val="5B6770"/>
                </a:solidFill>
                <a:latin typeface="Segoe UI"/>
                <a:ea typeface="Microsoft YaHei"/>
              </a:rPr>
              <a:t>变更·风险·回滚预览</a:t>
            </a:r>
          </a:p>
        </p:txBody>
      </p:sp>
      <p:sp>
        <p:nvSpPr>
          <p:cNvPr id="0" name="tx"/>
          <p:cNvSpPr/>
          <p:nvPr/>
        </p:nvSpPr>
        <p:spPr>
          <a:xfrm>
            <a:off x="6090000" y="2500000"/>
            <a:ext cx="15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5B6770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0" name="rect"/>
          <p:cNvSpPr/>
          <p:nvPr/>
        </p:nvSpPr>
        <p:spPr>
          <a:xfrm>
            <a:off x="6240000" y="1600000"/>
            <a:ext cx="1280000" cy="24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6240000" y="1600000"/>
            <a:ext cx="1280000" cy="12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360000" y="175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400" b="1" i="0" dirty="0">
                <a:solidFill>
                  <a:srgbClr val="2E86DE"/>
                </a:solidFill>
                <a:latin typeface="Segoe UI"/>
                <a:ea typeface="Microsoft YaHei"/>
              </a:rPr>
              <a:t>5</a:t>
            </a:r>
          </a:p>
        </p:txBody>
      </p:sp>
      <p:sp>
        <p:nvSpPr>
          <p:cNvPr id="0" name="tx"/>
          <p:cNvSpPr/>
          <p:nvPr/>
        </p:nvSpPr>
        <p:spPr>
          <a:xfrm>
            <a:off x="6360000" y="230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0B2447"/>
                </a:solidFill>
                <a:latin typeface="Segoe UI"/>
                <a:ea typeface="Microsoft YaHei"/>
              </a:rPr>
              <a:t>审批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100" b="0" i="0" dirty="0">
                <a:solidFill>
                  <a:srgbClr val="5B6770"/>
                </a:solidFill>
                <a:latin typeface="Segoe UI"/>
                <a:ea typeface="Microsoft YaHei"/>
              </a:rPr>
              <a:t>人工逐项确认</a:t>
            </a:r>
          </a:p>
        </p:txBody>
      </p:sp>
      <p:sp>
        <p:nvSpPr>
          <p:cNvPr id="0" name="tx"/>
          <p:cNvSpPr/>
          <p:nvPr/>
        </p:nvSpPr>
        <p:spPr>
          <a:xfrm>
            <a:off x="7520000" y="2500000"/>
            <a:ext cx="15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5B6770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0" name="rect"/>
          <p:cNvSpPr/>
          <p:nvPr/>
        </p:nvSpPr>
        <p:spPr>
          <a:xfrm>
            <a:off x="7670000" y="1600000"/>
            <a:ext cx="1280000" cy="24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7670000" y="1600000"/>
            <a:ext cx="1280000" cy="12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7790000" y="175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400" b="1" i="0" dirty="0">
                <a:solidFill>
                  <a:srgbClr val="2E86DE"/>
                </a:solidFill>
                <a:latin typeface="Segoe UI"/>
                <a:ea typeface="Microsoft YaHei"/>
              </a:rPr>
              <a:t>6</a:t>
            </a:r>
          </a:p>
        </p:txBody>
      </p:sp>
      <p:sp>
        <p:nvSpPr>
          <p:cNvPr id="0" name="tx"/>
          <p:cNvSpPr/>
          <p:nvPr/>
        </p:nvSpPr>
        <p:spPr>
          <a:xfrm>
            <a:off x="7790000" y="230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0B2447"/>
                </a:solidFill>
                <a:latin typeface="Segoe UI"/>
                <a:ea typeface="Microsoft YaHei"/>
              </a:rPr>
              <a:t>执行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100" b="0" i="0" dirty="0">
                <a:solidFill>
                  <a:srgbClr val="5B6770"/>
                </a:solidFill>
                <a:latin typeface="Segoe UI"/>
                <a:ea typeface="Microsoft YaHei"/>
              </a:rPr>
              <a:t>受控变更 + 写后回读</a:t>
            </a:r>
          </a:p>
        </p:txBody>
      </p:sp>
      <p:sp>
        <p:nvSpPr>
          <p:cNvPr id="0" name="tx"/>
          <p:cNvSpPr/>
          <p:nvPr/>
        </p:nvSpPr>
        <p:spPr>
          <a:xfrm>
            <a:off x="8950000" y="2500000"/>
            <a:ext cx="15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5B6770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0" name="rect"/>
          <p:cNvSpPr/>
          <p:nvPr/>
        </p:nvSpPr>
        <p:spPr>
          <a:xfrm>
            <a:off x="9100000" y="1600000"/>
            <a:ext cx="1280000" cy="24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9100000" y="1600000"/>
            <a:ext cx="1280000" cy="12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9220000" y="175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400" b="1" i="0" dirty="0">
                <a:solidFill>
                  <a:srgbClr val="2E86DE"/>
                </a:solidFill>
                <a:latin typeface="Segoe UI"/>
                <a:ea typeface="Microsoft YaHei"/>
              </a:rPr>
              <a:t>7</a:t>
            </a:r>
          </a:p>
        </p:txBody>
      </p:sp>
      <p:sp>
        <p:nvSpPr>
          <p:cNvPr id="0" name="tx"/>
          <p:cNvSpPr/>
          <p:nvPr/>
        </p:nvSpPr>
        <p:spPr>
          <a:xfrm>
            <a:off x="9220000" y="230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0B2447"/>
                </a:solidFill>
                <a:latin typeface="Segoe UI"/>
                <a:ea typeface="Microsoft YaHei"/>
              </a:rPr>
              <a:t>验证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100" b="0" i="0" dirty="0">
                <a:solidFill>
                  <a:srgbClr val="5B6770"/>
                </a:solidFill>
                <a:latin typeface="Segoe UI"/>
                <a:ea typeface="Microsoft YaHei"/>
              </a:rPr>
              <a:t>恢复判据通过才结案</a:t>
            </a:r>
          </a:p>
        </p:txBody>
      </p:sp>
      <p:sp>
        <p:nvSpPr>
          <p:cNvPr id="0" name="tx"/>
          <p:cNvSpPr/>
          <p:nvPr/>
        </p:nvSpPr>
        <p:spPr>
          <a:xfrm>
            <a:off x="10380000" y="2500000"/>
            <a:ext cx="15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5B6770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0" name="rect"/>
          <p:cNvSpPr/>
          <p:nvPr/>
        </p:nvSpPr>
        <p:spPr>
          <a:xfrm>
            <a:off x="10530000" y="1600000"/>
            <a:ext cx="1280000" cy="24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10530000" y="1600000"/>
            <a:ext cx="1280000" cy="12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10650000" y="175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400" b="1" i="0" dirty="0">
                <a:solidFill>
                  <a:srgbClr val="2E86DE"/>
                </a:solidFill>
                <a:latin typeface="Segoe UI"/>
                <a:ea typeface="Microsoft YaHei"/>
              </a:rPr>
              <a:t>8</a:t>
            </a:r>
          </a:p>
        </p:txBody>
      </p:sp>
      <p:sp>
        <p:nvSpPr>
          <p:cNvPr id="0" name="tx"/>
          <p:cNvSpPr/>
          <p:nvPr/>
        </p:nvSpPr>
        <p:spPr>
          <a:xfrm>
            <a:off x="10650000" y="2300000"/>
            <a:ext cx="1050000" cy="5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0B2447"/>
                </a:solidFill>
                <a:latin typeface="Segoe UI"/>
                <a:ea typeface="Microsoft YaHei"/>
              </a:rPr>
              <a:t>学习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100" b="0" i="0" dirty="0">
                <a:solidFill>
                  <a:srgbClr val="5B6770"/>
                </a:solidFill>
                <a:latin typeface="Segoe UI"/>
                <a:ea typeface="Microsoft YaHei"/>
              </a:rPr>
              <a:t>成效与 Skill 沉淀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300000"/>
            <a:ext cx="11200000" cy="7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关键点：</a:t>
            </a: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只有 “恢复验证”通过才能结案；未恢复则保留失败轨迹、换策略继续，绝不自报成功。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7 / 23</a:t>
            </a:r>
          </a:p>
        </p:txBody>
      </p:sp>
    </p:spTree>
  </p:cSld>
  <p:clrMapOvr>
    <a:override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6858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6858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1200000" y="1900000"/>
            <a:ext cx="9000000" cy="9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9000" b="1" i="0" dirty="0">
                <a:solidFill>
                  <a:srgbClr val="00A8CC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000000"/>
            <a:ext cx="10500000" cy="8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4400" b="1" i="0" dirty="0">
                <a:solidFill>
                  <a:srgbClr val="FFFFFF"/>
                </a:solidFill>
                <a:latin typeface="Segoe UI"/>
                <a:ea typeface="Microsoft YaHei"/>
              </a:rPr>
              <a:t>与 DeepSeek Harness 的差距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950000"/>
            <a:ext cx="10000000" cy="7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000" b="0" i="0" dirty="0">
                <a:solidFill>
                  <a:srgbClr val="BFC9D9"/>
                </a:solidFill>
                <a:latin typeface="Segoe UI"/>
                <a:ea typeface="Microsoft YaHei"/>
              </a:rPr>
              <a:t>内核已对齐，编排与执行广度是缺口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8 / 23</a:t>
            </a:r>
          </a:p>
        </p:txBody>
      </p:sp>
    </p:spTree>
  </p:cSld>
  <p:clrMapOvr>
    <a:override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HARNESS PARITY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与 DeepSeek Harness 的定位：吸收其内核，强化其安全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6200000" y="1100000"/>
            <a:ext cx="60000" cy="4200000"/>
          </a:xfr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0"/>
            <a:ext cx="5400000" cy="500000"/>
          </a:xfrm>
        </p:spPr>
        <p:txBody>
          <a:bodyPr wrap="square" rtlCol="0" anchor="t">
            <a:normAutofit/>
          </a:bodyPr>
          <a:lstStyle/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1E8449"/>
                </a:solidFill>
                <a:latin typeface="Segoe UI"/>
                <a:ea typeface="Microsoft YaHei"/>
              </a:rPr>
              <a:t>已对齐（CISRE 原生实现）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DSH 的控制面理念已同构落入 Python</a:t>
            </a:r>
          </a:p>
        </p:txBody>
      </p:sp>
      <p:sp>
        <p:nvSpPr>
          <p:cNvPr id="0" name="tx"/>
          <p:cNvSpPr/>
          <p:nvPr/>
        </p:nvSpPr>
        <p:spPr>
          <a:xfrm>
            <a:off x="520000" y="1850000"/>
            <a:ext cx="5500000" cy="4508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插件化内核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会话事件 / 压缩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目标驱动 / 任务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Skill / 审批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多模型 / 遥测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Web 控制台 / MCP</a:t>
            </a:r>
          </a:p>
        </p:txBody>
      </p:sp>
      <p:sp>
        <p:nvSpPr>
          <p:cNvPr id="0" name="tx"/>
          <p:cNvSpPr/>
          <p:nvPr/>
        </p:nvSpPr>
        <p:spPr>
          <a:xfrm>
            <a:off x="6500000" y="1200000"/>
            <a:ext cx="5500000" cy="500000"/>
          </a:xfrm>
        </p:spPr>
        <p:txBody>
          <a:bodyPr wrap="square" rtlCol="0" anchor="t">
            <a:normAutofit/>
          </a:bodyPr>
          <a:lstStyle/>
          <a:p>
            <a:pPr algn="l" spcBef="0" spcAft="120000">
              <a:spcBef>
                <a:spcPts val="0"/>
              </a:spcBef>
              <a:spcAft>
                <a:spcPts val="12000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C0392B"/>
                </a:solidFill>
                <a:latin typeface="Segoe UI"/>
                <a:ea typeface="Microsoft YaHei"/>
              </a:rPr>
              <a:t>缺口（需补齐）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主要缺在编排与执行广度</a:t>
            </a:r>
          </a:p>
        </p:txBody>
      </p:sp>
      <p:sp>
        <p:nvSpPr>
          <p:cNvPr id="0" name="tx"/>
          <p:cNvSpPr/>
          <p:nvPr/>
        </p:nvSpPr>
        <p:spPr>
          <a:xfrm>
            <a:off x="6500000" y="1850000"/>
            <a:ext cx="5500000" cy="4508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多智能体编排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通用受控执行器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通用 MCP 客户端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统一存储 / OTel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多端入口</a:t>
            </a:r>
          </a:p>
        </p:txBody>
      </p:sp>
      <p:sp>
        <p:nvSpPr>
          <p:cNvPr id="0" name="tx"/>
          <p:cNvSpPr/>
          <p:nvPr/>
        </p:nvSpPr>
        <p:spPr>
          <a:xfrm>
            <a:off x="520000" y="6050000"/>
            <a:ext cx="11200000" cy="4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结论：</a:t>
            </a: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控制面已 70–80% 对齐；通用 harness 把 Shell/FS 交给模型，CISRE 把它们挡在模型边界之外——对企业更安全。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9 / 23</a:t>
            </a:r>
          </a:p>
        </p:txBody>
      </p:sp>
    </p:spTree>
  </p:cSld>
  <p:clrMapOvr>
    <a:override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GAP ANALYSIS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差距分析总览：缺的不是内核，是编排与执行广度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0" name="tbl"/>
          <p:cNvGraphicFramePr/>
          <p:nvPr/>
        </p:nvGraphicFramePr>
        <p:xfrm>
          <a:off x="500000" y="1250000"/>
          <a:ext cx="10650000" cy="386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gridCol w="1850000"/>
              <a:gridCol w="2900000"/>
              <a:gridCol w="3300000"/>
              <a:gridCol w="2600000"/>
              <a:tr h="50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缺口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DSH 能力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对“统一运维平台”的意义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多智能体编排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Subagent 委托 + Workflow fan-out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证据并行采集、全集群巡检、多目标处置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高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通用受控执行器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沙箱 Shell/FS/CLI + 审计回滚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数据库/VM/云的变更执行与验证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高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统一存储/多副本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会话/任务持久化 + 可检索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API 多副本、审计留存、合规检索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高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通用 MCP 客户端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消费第三方 MCP 工具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接入 DBA/ITSM/云 CLI 现成能力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中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OTel GenAI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统一模型/工具/轨迹导出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成本核算与端到端可观测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中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多端入口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Web/Headless/CLI/TUI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CI/CD 批处理、值班终端、自动化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中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</a:tbl>
          </a:graphicData>
        </a:graphic>
      </p:graphicFrame>
      <p:sp>
        <p:nvSpPr>
          <p:cNvPr id="0" name="tx"/>
          <p:cNvSpPr/>
          <p:nvPr/>
        </p:nvSpPr>
        <p:spPr>
          <a:xfrm>
            <a:off x="500000" y="5550000"/>
            <a:ext cx="11200000" cy="700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1500" b="1" i="0" dirty="0">
                <a:solidFill>
                  <a:srgbClr val="1E8449"/>
                </a:solidFill>
                <a:latin typeface="Segoe UI"/>
                <a:ea typeface="Microsoft YaHei"/>
              </a:rPr>
              <a:t>已对齐无需重写：</a:t>
            </a: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插件内核、事件、压缩、目标/任务、Skill、审批、多模型、Web 控制台。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500" b="1" i="0" dirty="0">
                <a:solidFill>
                  <a:srgbClr val="0B2447"/>
                </a:solidFill>
                <a:latin typeface="Segoe UI"/>
                <a:ea typeface="Microsoft YaHei"/>
              </a:rPr>
              <a:t>补齐方式：</a:t>
            </a: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不推倒重来，而是在现有 Harness 上“加能力”——三个高优先级缺口对应下一节的执行面与编排面。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10 / 23</a:t>
            </a:r>
          </a:p>
        </p:txBody>
      </p:sp>
    </p:spTree>
  </p:cSld>
  <p:clrMapOvr>
    <a:override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GAP 1 / 3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缺口一：多智能体编排（Subagent / Workflow）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0"/>
            <a:ext cx="5500000" cy="4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C0392B"/>
                </a:solidFill>
                <a:latin typeface="Segoe UI"/>
                <a:ea typeface="Microsoft YaHei"/>
              </a:rPr>
              <a:t>现状</a:t>
            </a:r>
          </a:p>
        </p:txBody>
      </p:sp>
      <p:sp>
        <p:nvSpPr>
          <p:cNvPr id="0" name="tx"/>
          <p:cNvSpPr/>
          <p:nvPr/>
        </p:nvSpPr>
        <p:spPr>
          <a:xfrm>
            <a:off x="520000" y="1700000"/>
            <a:ext cx="5500000" cy="4658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500" b="1" i="0" dirty="0">
                <a:solidFill>
                  <a:srgbClr val="C0392B"/>
                </a:solidFill>
                <a:latin typeface="Segoe UI"/>
                <a:ea typeface="Microsoft YaHei"/>
              </a:rPr>
              <a:t>•  </a:t>
            </a:r>
            <a:r>
              <a:rPr lang="zh-CN" altLang="en-US" sz="1500" b="0" i="0" dirty="0">
                <a:solidFill>
                  <a:srgbClr val="263238"/>
                </a:solidFill>
                <a:latin typeface="Segoe UI"/>
                <a:ea typeface="Microsoft YaHei"/>
              </a:rPr>
              <a:t>现状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只有 4 个固定 A2A 命名代理（healing/incident/postmortem/observability）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没有通用“子代理委托 + 工作流 fan-out”原语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证据采集、巡检、多集群处置只能串行</a:t>
            </a:r>
          </a:p>
        </p:txBody>
      </p:sp>
      <p:sp>
        <p:nvSpPr>
          <p:cNvPr id="0" name="rect"/>
          <p:cNvSpPr/>
          <p:nvPr/>
        </p:nvSpPr>
        <p:spPr>
          <a:xfrm>
            <a:off x="6200000" y="1100000"/>
            <a:ext cx="60000" cy="4200000"/>
          </a:xfr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500000" y="1200000"/>
            <a:ext cx="5500000" cy="4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1E8449"/>
                </a:solidFill>
                <a:latin typeface="Segoe UI"/>
                <a:ea typeface="Microsoft YaHei"/>
              </a:rPr>
              <a:t>补齐后</a:t>
            </a:r>
          </a:p>
        </p:txBody>
      </p:sp>
      <p:sp>
        <p:nvSpPr>
          <p:cNvPr id="0" name="tx"/>
          <p:cNvSpPr/>
          <p:nvPr/>
        </p:nvSpPr>
        <p:spPr>
          <a:xfrm>
            <a:off x="6500000" y="1700000"/>
            <a:ext cx="5500000" cy="4658000"/>
          </a:xfrm>
        </p:spPr>
        <p:txBody>
          <a:bodyPr wrap="square" rtlCol="0" anchor="t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500" b="1" i="0" dirty="0">
                <a:solidFill>
                  <a:srgbClr val="1E8449"/>
                </a:solidFill>
                <a:latin typeface="Segoe UI"/>
                <a:ea typeface="Microsoft YaHei"/>
              </a:rPr>
              <a:t>•  </a:t>
            </a:r>
            <a:r>
              <a:rPr lang="zh-CN" altLang="en-US" sz="1500" b="0" i="0" dirty="0">
                <a:solidFill>
                  <a:srgbClr val="263238"/>
                </a:solidFill>
                <a:latin typeface="Segoe UI"/>
                <a:ea typeface="Microsoft YaHei"/>
              </a:rPr>
              <a:t>补齐后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Subagent：证据并行、专家子代理隔离、跨域协作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Workflow：pipeline/parallel 编排全集群巡检、批量发现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12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300" b="0" i="0" dirty="0">
                <a:solidFill>
                  <a:srgbClr val="37474F"/>
                </a:solidFill>
                <a:latin typeface="Segoe UI"/>
                <a:ea typeface="Microsoft YaHei"/>
              </a:rPr>
              <a:t>目标驱动：把“事故”泛化为任意“目标”自主续跑</a:t>
            </a:r>
          </a:p>
        </p:txBody>
      </p:sp>
      <p:sp>
        <p:nvSpPr>
          <p:cNvPr id="0" name="tx"/>
          <p:cNvSpPr/>
          <p:nvPr/>
        </p:nvSpPr>
        <p:spPr>
          <a:xfrm>
            <a:off x="520000" y="6000000"/>
            <a:ext cx="11200000" cy="4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价值：</a:t>
            </a: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让“从云到数据库”的并行巡检、并行取证、并行处置成为可能，是规模化的前提。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11 / 23</a:t>
            </a:r>
          </a:p>
        </p:txBody>
      </p:sp>
    </p:spTree>
  </p:cSld>
  <p:clrMapOvr>
    <a:override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GAP 2 / 3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缺口二：统一的受控执行器（从 K8s 走向全栈）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1050000"/>
            <a:ext cx="11200000" cy="5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把今天只对 K8s 成立的“证据→审批→执行→回读→验证”抽象成对任意资源成立的一份合同。</a:t>
            </a:r>
          </a:p>
        </p:txBody>
      </p:sp>
      <p:graphicFrame>
        <p:nvGraphicFramePr>
          <p:cNvPr id="0" name="tbl"/>
          <p:cNvGraphicFramePr/>
          <p:nvPr/>
        </p:nvGraphicFramePr>
        <p:xfrm>
          <a:off x="500000" y="1650000"/>
          <a:ext cx="11000000" cy="33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gridCol w="1900000"/>
              <a:gridCol w="3300000"/>
              <a:gridCol w="5800000"/>
              <a:tr h="50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资源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执行通道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恢复判据（验证什么）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Kubernetes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Rancher / kubeconfig / MCP（已就绪）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Rollout + 新 Pod + 日志 + 业务探针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数据库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psql/mysql 受控 Runbook + Adapter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连接可用、慢查询、主备/复制状态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虚拟机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SSH 受控 Runbook + Adapter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探针、CPU/磁盘/服务状态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云资源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云 CLI/SDK 受控执行 + RAM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实例状态、配额、健康检查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中间件/存储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Adapter + Webhook 过渡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队列积压、读写探针、容量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</a:tbl>
          </a:graphicData>
        </a:graphic>
      </p:graphicFrame>
      <p:sp>
        <p:nvSpPr>
          <p:cNvPr id="0" name="tx"/>
          <p:cNvSpPr/>
          <p:nvPr/>
        </p:nvSpPr>
        <p:spPr>
          <a:xfrm>
            <a:off x="500000" y="5550000"/>
            <a:ext cx="11200000" cy="7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500" b="1" i="0" dirty="0">
                <a:solidFill>
                  <a:srgbClr val="0B2447"/>
                </a:solidFill>
                <a:latin typeface="Segoe UI"/>
                <a:ea typeface="Microsoft YaHei"/>
              </a:rPr>
              <a:t>关键：</a:t>
            </a: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模型仍不能直接 Shell/SSH/CLI——所有执行走动作目录 + 审批 + 回滚 + 恢复验证；复用现有 Webhook 作为过渡。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12 / 23</a:t>
            </a:r>
          </a:p>
        </p:txBody>
      </p:sp>
    </p:spTree>
  </p:cSld>
  <p:clrMapOvr>
    <a:override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GAP 3 / 3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缺口三：统一存储、可观测与多端入口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0"/>
            <a:ext cx="11200000" cy="5158000"/>
          </a:xfrm>
        </p:spPr>
        <p:txBody>
          <a:bodyPr wrap="square" rtlCol="0" anchor="t">
            <a:normAutofit/>
          </a:bodyPr>
          <a:lstStyle/>
          <a:p>
            <a:pPr algn="l" spcBef="0" spcAft="80000">
              <a:spcBef>
                <a:spcPts val="0"/>
              </a:spcBef>
              <a:spcAft>
                <a:spcPts val="80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统一持久层</a:t>
            </a:r>
          </a:p>
          <a:p>
            <a:pPr algn="l" spcBef="0" spcAft="80000">
              <a:spcBef>
                <a:spcPts val="0"/>
              </a:spcBef>
              <a:spcAft>
                <a:spcPts val="80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统一会话/审计检索</a:t>
            </a:r>
          </a:p>
          <a:p>
            <a:pPr algn="l" spcBef="0" spcAft="80000">
              <a:spcBef>
                <a:spcPts val="0"/>
              </a:spcBef>
              <a:spcAft>
                <a:spcPts val="80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OTel GenAI 语义导出</a:t>
            </a:r>
          </a:p>
          <a:p>
            <a:pPr algn="l" spcBef="0" spcAft="80000">
              <a:spcBef>
                <a:spcPts val="0"/>
              </a:spcBef>
              <a:spcAft>
                <a:spcPts val="80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多端入口</a:t>
            </a:r>
          </a:p>
          <a:p>
            <a:pPr algn="l" spcBef="0" spcAft="80000">
              <a:spcBef>
                <a:spcPts val="0"/>
              </a:spcBef>
              <a:spcAft>
                <a:spcPts val="80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通用 MCP 客户端</a:t>
            </a:r>
          </a:p>
        </p:txBody>
      </p:sp>
      <p:sp>
        <p:nvSpPr>
          <p:cNvPr id="0" name="tx"/>
          <p:cNvSpPr/>
          <p:nvPr/>
        </p:nvSpPr>
        <p:spPr>
          <a:xfrm>
            <a:off x="520000" y="6000000"/>
            <a:ext cx="11200000" cy="4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价值：</a:t>
            </a: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多副本高可用、可审计可检索、成本可核算，是“企业级可靠基础框架”的最后一块拼图。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13 / 23</a:t>
            </a:r>
          </a:p>
        </p:txBody>
      </p:sp>
    </p:spTree>
  </p:cSld>
  <p:clrMapOvr>
    <a:override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6858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6858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1200000" y="1900000"/>
            <a:ext cx="9000000" cy="9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9000" b="1" i="0" dirty="0">
                <a:solidFill>
                  <a:srgbClr val="00A8CC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000000"/>
            <a:ext cx="10500000" cy="8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4400" b="1" i="0" dirty="0">
                <a:solidFill>
                  <a:srgbClr val="FFFFFF"/>
                </a:solidFill>
                <a:latin typeface="Segoe UI"/>
                <a:ea typeface="Microsoft YaHei"/>
              </a:rPr>
              <a:t>判定与目标架构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950000"/>
            <a:ext cx="10000000" cy="7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000" b="0" i="0" dirty="0">
                <a:solidFill>
                  <a:srgbClr val="BFC9D9"/>
                </a:solidFill>
                <a:latin typeface="Segoe UI"/>
                <a:ea typeface="Microsoft YaHei"/>
              </a:rPr>
              <a:t>够做内部 SRE Harness；三层架构覆盖云→数据库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14 / 23</a:t>
            </a:r>
          </a:p>
        </p:txBody>
      </p:sp>
    </p:spTree>
  </p:cSld>
  <p:clrMapOvr>
    <a:override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VERDICT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判定：够做内部 SRE Harness，且比通用 Harness 更严格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520000" y="1500000"/>
            <a:ext cx="2500000" cy="70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1620000"/>
            <a:ext cx="23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FFFFFF"/>
                </a:solidFill>
                <a:latin typeface="Segoe UI"/>
                <a:ea typeface="Microsoft YaHei"/>
              </a:rPr>
              <a:t>持久执行</a:t>
            </a:r>
          </a:p>
        </p:txBody>
      </p:sp>
      <p:sp>
        <p:nvSpPr>
          <p:cNvPr id="0" name="tx"/>
          <p:cNvSpPr/>
          <p:nvPr/>
        </p:nvSpPr>
        <p:spPr>
          <a:xfrm>
            <a:off x="3300000" y="1560000"/>
            <a:ext cx="4000000" cy="60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故障后从检查点恢复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ResumableSREHarness/v1 检查点 + 孤儿任务自恢复</a:t>
            </a:r>
          </a:p>
        </p:txBody>
      </p:sp>
      <p:sp>
        <p:nvSpPr>
          <p:cNvPr id="0" name="rect"/>
          <p:cNvSpPr/>
          <p:nvPr/>
        </p:nvSpPr>
        <p:spPr>
          <a:xfrm>
            <a:off x="7600000" y="1700000"/>
            <a:ext cx="4200000" cy="300000"/>
          </a:xfrm>
          <a:solidFill>
            <a:srgbClr val="1E8449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520000" y="2450000"/>
            <a:ext cx="2500000" cy="70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2570000"/>
            <a:ext cx="23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FFFFFF"/>
                </a:solidFill>
                <a:latin typeface="Segoe UI"/>
                <a:ea typeface="Microsoft YaHei"/>
              </a:rPr>
              <a:t>确定性完成</a:t>
            </a:r>
          </a:p>
        </p:txBody>
      </p:sp>
      <p:sp>
        <p:nvSpPr>
          <p:cNvPr id="0" name="tx"/>
          <p:cNvSpPr/>
          <p:nvPr/>
        </p:nvSpPr>
        <p:spPr>
          <a:xfrm>
            <a:off x="3300000" y="2510000"/>
            <a:ext cx="4000000" cy="60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模型不能自报成功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RecoveryVerifier：只有实时恢复证据才结案</a:t>
            </a:r>
          </a:p>
        </p:txBody>
      </p:sp>
      <p:sp>
        <p:nvSpPr>
          <p:cNvPr id="0" name="rect"/>
          <p:cNvSpPr/>
          <p:nvPr/>
        </p:nvSpPr>
        <p:spPr>
          <a:xfrm>
            <a:off x="7600000" y="2650000"/>
            <a:ext cx="4200000" cy="300000"/>
          </a:xfrm>
          <a:solidFill>
            <a:srgbClr val="1E8449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520000" y="3400000"/>
            <a:ext cx="2500000" cy="70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3520000"/>
            <a:ext cx="23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FFFFFF"/>
                </a:solidFill>
                <a:latin typeface="Segoe UI"/>
                <a:ea typeface="Microsoft YaHei"/>
              </a:rPr>
              <a:t>可逆 + 审批</a:t>
            </a:r>
          </a:p>
        </p:txBody>
      </p:sp>
      <p:sp>
        <p:nvSpPr>
          <p:cNvPr id="0" name="tx"/>
          <p:cNvSpPr/>
          <p:nvPr/>
        </p:nvSpPr>
        <p:spPr>
          <a:xfrm>
            <a:off x="3300000" y="3460000"/>
            <a:ext cx="4000000" cy="60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可回滚、逐项确认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审批凭据 + 回滚 Patch + 写后回读</a:t>
            </a:r>
          </a:p>
        </p:txBody>
      </p:sp>
      <p:sp>
        <p:nvSpPr>
          <p:cNvPr id="0" name="rect"/>
          <p:cNvSpPr/>
          <p:nvPr/>
        </p:nvSpPr>
        <p:spPr>
          <a:xfrm>
            <a:off x="7600000" y="3600000"/>
            <a:ext cx="4200000" cy="300000"/>
          </a:xfrm>
          <a:solidFill>
            <a:srgbClr val="1E8449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520000" y="4350000"/>
            <a:ext cx="2500000" cy="70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4470000"/>
            <a:ext cx="23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FFFFFF"/>
                </a:solidFill>
                <a:latin typeface="Segoe UI"/>
                <a:ea typeface="Microsoft YaHei"/>
              </a:rPr>
              <a:t>可观测 + 沉淀</a:t>
            </a:r>
          </a:p>
        </p:txBody>
      </p:sp>
      <p:sp>
        <p:nvSpPr>
          <p:cNvPr id="0" name="tx"/>
          <p:cNvSpPr/>
          <p:nvPr/>
        </p:nvSpPr>
        <p:spPr>
          <a:xfrm>
            <a:off x="3300000" y="4410000"/>
            <a:ext cx="4000000" cy="60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轨迹/成效入库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Records / Effectiveness / Skill 指标</a:t>
            </a:r>
          </a:p>
        </p:txBody>
      </p:sp>
      <p:sp>
        <p:nvSpPr>
          <p:cNvPr id="0" name="rect"/>
          <p:cNvSpPr/>
          <p:nvPr/>
        </p:nvSpPr>
        <p:spPr>
          <a:xfrm>
            <a:off x="7600000" y="4550000"/>
            <a:ext cx="4200000" cy="300000"/>
          </a:xfrm>
          <a:solidFill>
            <a:srgbClr val="1E8449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5450000"/>
            <a:ext cx="11200000" cy="800000"/>
          </a:xfrm>
        </p:spPr>
        <p:txBody>
          <a:bodyPr wrap="square" rtlCol="0" anchor="t">
            <a:normAutofit/>
          </a:bodyPr>
          <a:lstStyle/>
          <a:p>
            <a:pPr algn="l" spcBef="0" spcAft="80000">
              <a:spcBef>
                <a:spcPts val="0"/>
              </a:spcBef>
              <a:spcAft>
                <a:spcPts val="8000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1E8449"/>
                </a:solidFill>
                <a:latin typeface="Segoe UI"/>
                <a:ea typeface="Microsoft YaHei"/>
              </a:rPr>
              <a:t>Harness 的四个本质属性全部满足。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边界声明：</a:t>
            </a: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今天“够”是针对 K8s/Rancher 单域；要成为“云→数据库”全栈统一平台，需补齐执行面与编排面（第 8–10 页）。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15 / 23</a:t>
            </a:r>
          </a:p>
        </p:txBody>
      </p:sp>
    </p:spTree>
  </p:cSld>
  <p:clrMapOvr>
    <a:override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TARGET ARCHITECTURE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目标架构：从云到数据库的统一运维平台（三层）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520000" y="1300000"/>
            <a:ext cx="2300000" cy="135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1680000"/>
            <a:ext cx="2100000" cy="6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FFFFFF"/>
                </a:solidFill>
                <a:latin typeface="Segoe UI"/>
                <a:ea typeface="Microsoft YaHei"/>
              </a:rPr>
              <a:t>体验层</a:t>
            </a:r>
          </a:p>
        </p:txBody>
      </p:sp>
      <p:sp>
        <p:nvSpPr>
          <p:cNvPr id="0" name="rect"/>
          <p:cNvSpPr/>
          <p:nvPr/>
        </p:nvSpPr>
        <p:spPr>
          <a:xfrm>
            <a:off x="3000000" y="1300000"/>
            <a:ext cx="8900000" cy="135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3250000" y="1420000"/>
            <a:ext cx="8400000" cy="1200000"/>
          </a:xfrm>
        </p:spPr>
        <p:txBody>
          <a:bodyPr wrap="square" rtlCol="0" anchor="ctr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1500" b="0" i="0" dirty="0">
                <a:solidFill>
                  <a:srgbClr val="263238"/>
                </a:solidFill>
                <a:latin typeface="Segoe UI"/>
                <a:ea typeface="Microsoft YaHei"/>
              </a:rPr>
              <a:t>Web 控制台 · Headless/CLI · TUI · 统一检索 · 逐条反馈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2850000"/>
            <a:ext cx="2300000" cy="135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3230000"/>
            <a:ext cx="2100000" cy="6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FFFFFF"/>
                </a:solidFill>
                <a:latin typeface="Segoe UI"/>
                <a:ea typeface="Microsoft YaHei"/>
              </a:rPr>
              <a:t>控制面</a:t>
            </a:r>
          </a:p>
        </p:txBody>
      </p:sp>
      <p:sp>
        <p:nvSpPr>
          <p:cNvPr id="0" name="rect"/>
          <p:cNvSpPr/>
          <p:nvPr/>
        </p:nvSpPr>
        <p:spPr>
          <a:xfrm>
            <a:off x="3000000" y="2850000"/>
            <a:ext cx="8900000" cy="135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3250000" y="2970000"/>
            <a:ext cx="8400000" cy="1200000"/>
          </a:xfrm>
        </p:spPr>
        <p:txBody>
          <a:bodyPr wrap="square" rtlCol="0" anchor="ctr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1500" b="0" i="0" dirty="0">
                <a:solidFill>
                  <a:srgbClr val="263238"/>
                </a:solidFill>
                <a:latin typeface="Segoe UI"/>
                <a:ea typeface="Microsoft YaHei"/>
              </a:rPr>
              <a:t>CISREDurableHarness/v3 + CISREPluginHarness/v1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1500" b="0" i="0" dirty="0">
                <a:solidFill>
                  <a:srgbClr val="263238"/>
                </a:solidFill>
                <a:latin typeface="Segoe UI"/>
                <a:ea typeface="Microsoft YaHei"/>
              </a:rPr>
              <a:t>目标驱动 · Subagent/Workflow 编排 · 统一任务/会话存储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4400000"/>
            <a:ext cx="2300000" cy="1350000"/>
          </a:xfrm>
          <a:solidFill>
            <a:srgbClr val="00A8A8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4780000"/>
            <a:ext cx="2100000" cy="6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FFFFFF"/>
                </a:solidFill>
                <a:latin typeface="Segoe UI"/>
                <a:ea typeface="Microsoft YaHei"/>
              </a:rPr>
              <a:t>执行面</a:t>
            </a:r>
          </a:p>
        </p:txBody>
      </p:sp>
      <p:sp>
        <p:nvSpPr>
          <p:cNvPr id="0" name="rect"/>
          <p:cNvSpPr/>
          <p:nvPr/>
        </p:nvSpPr>
        <p:spPr>
          <a:xfrm>
            <a:off x="3000000" y="4400000"/>
            <a:ext cx="8900000" cy="135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3250000" y="4520000"/>
            <a:ext cx="8400000" cy="1200000"/>
          </a:xfrm>
        </p:spPr>
        <p:txBody>
          <a:bodyPr wrap="square" rtlCol="0" anchor="ctr">
            <a:normAutofit/>
          </a:bodyPr>
          <a:lstStyle/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1500" b="0" i="0" dirty="0">
                <a:solidFill>
                  <a:srgbClr val="263238"/>
                </a:solidFill>
                <a:latin typeface="Segoe UI"/>
                <a:ea typeface="Microsoft YaHei"/>
              </a:rPr>
              <a:t>Guarded Executor（动作目录 · 审批 · 回滚 · 回读 · 恢复验证）</a:t>
            </a:r>
          </a:p>
          <a:p>
            <a:pPr algn="l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1500" b="0" i="0" dirty="0">
                <a:solidFill>
                  <a:srgbClr val="263238"/>
                </a:solidFill>
                <a:latin typeface="Segoe UI"/>
                <a:ea typeface="Microsoft YaHei"/>
              </a:rPr>
              <a:t>K8s 已就绪 · 基础设施 Adapter · 受控 Runbook · 通用 MCP 客户端</a:t>
            </a:r>
          </a:p>
        </p:txBody>
      </p:sp>
      <p:sp>
        <p:nvSpPr>
          <p:cNvPr id="0" name="tx"/>
          <p:cNvSpPr/>
          <p:nvPr/>
        </p:nvSpPr>
        <p:spPr>
          <a:xfrm>
            <a:off x="520000" y="6150000"/>
            <a:ext cx="11200000" cy="4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500" b="1" i="0" dirty="0">
                <a:solidFill>
                  <a:srgbClr val="0B2447"/>
                </a:solidFill>
                <a:latin typeface="Segoe UI"/>
                <a:ea typeface="Microsoft YaHei"/>
              </a:rPr>
              <a:t>执行面是“统一”的关键：</a:t>
            </a: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所有资源共享同一套审批、回滚、回读、恢复验证机制，而不是每个产品各建一套。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16 / 23</a:t>
            </a:r>
          </a:p>
        </p:txBody>
      </p:sp>
    </p:spTree>
  </p:cSld>
  <p:clrMapOvr>
    <a:override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COVERAGE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覆盖矩阵：统一资源合同 + 每类资源的“恢复判据”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050000"/>
            <a:ext cx="11200000" cy="3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三组稳定接口隔离厂商差异：resources/sync · discover · scan · 审批后 action webhook。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1300000"/>
            <a:ext cx="1900000" cy="72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00000" y="1430000"/>
            <a:ext cx="17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FFFFFF"/>
                </a:solidFill>
                <a:latin typeface="Segoe UI"/>
                <a:ea typeface="Microsoft YaHei"/>
              </a:rPr>
              <a:t>云</a:t>
            </a:r>
          </a:p>
        </p:txBody>
      </p:sp>
      <p:sp>
        <p:nvSpPr>
          <p:cNvPr id="0" name="tx"/>
          <p:cNvSpPr/>
          <p:nvPr/>
        </p:nvSpPr>
        <p:spPr>
          <a:xfrm>
            <a:off x="2700000" y="1380000"/>
            <a:ext cx="5600000" cy="56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263238"/>
                </a:solidFill>
                <a:latin typeface="Segoe UI"/>
                <a:ea typeface="Microsoft YaHei"/>
              </a:rPr>
              <a:t>阿里云 ECS/ACK/RDS/PolarDB/SLS/ARMS · 华为云 · 腾讯云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200" b="0" i="0" dirty="0">
                <a:solidFill>
                  <a:srgbClr val="5B6770"/>
                </a:solidFill>
                <a:latin typeface="Segoe UI"/>
                <a:ea typeface="Microsoft YaHei"/>
              </a:rPr>
              <a:t>验证：实例状态 / 配额 / 健康检查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2250000"/>
            <a:ext cx="1900000" cy="72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00000" y="2380000"/>
            <a:ext cx="17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FFFFFF"/>
                </a:solidFill>
                <a:latin typeface="Segoe UI"/>
                <a:ea typeface="Microsoft YaHei"/>
              </a:rPr>
              <a:t>数据库</a:t>
            </a:r>
          </a:p>
        </p:txBody>
      </p:sp>
      <p:sp>
        <p:nvSpPr>
          <p:cNvPr id="0" name="tx"/>
          <p:cNvSpPr/>
          <p:nvPr/>
        </p:nvSpPr>
        <p:spPr>
          <a:xfrm>
            <a:off x="2700000" y="2330000"/>
            <a:ext cx="5600000" cy="56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263238"/>
                </a:solidFill>
                <a:latin typeface="Segoe UI"/>
                <a:ea typeface="Microsoft YaHei"/>
              </a:rPr>
              <a:t>OceanBase · GaussDB · TiDB · 达梦 · 人大金仓 · MySQL/PG/Redis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200" b="0" i="0" dirty="0">
                <a:solidFill>
                  <a:srgbClr val="5B6770"/>
                </a:solidFill>
                <a:latin typeface="Segoe UI"/>
                <a:ea typeface="Microsoft YaHei"/>
              </a:rPr>
              <a:t>验证：连接 / 慢查询 / 主备复制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3200000"/>
            <a:ext cx="1900000" cy="72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00000" y="3330000"/>
            <a:ext cx="17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FFFFFF"/>
                </a:solidFill>
                <a:latin typeface="Segoe UI"/>
                <a:ea typeface="Microsoft YaHei"/>
              </a:rPr>
              <a:t>中间件</a:t>
            </a:r>
          </a:p>
        </p:txBody>
      </p:sp>
      <p:sp>
        <p:nvSpPr>
          <p:cNvPr id="0" name="tx"/>
          <p:cNvSpPr/>
          <p:nvPr/>
        </p:nvSpPr>
        <p:spPr>
          <a:xfrm>
            <a:off x="2700000" y="3280000"/>
            <a:ext cx="5600000" cy="56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263238"/>
                </a:solidFill>
                <a:latin typeface="Segoe UI"/>
                <a:ea typeface="Microsoft YaHei"/>
              </a:rPr>
              <a:t>RocketMQ · Nacos · Kafka · Redis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200" b="0" i="0" dirty="0">
                <a:solidFill>
                  <a:srgbClr val="5B6770"/>
                </a:solidFill>
                <a:latin typeface="Segoe UI"/>
                <a:ea typeface="Microsoft YaHei"/>
              </a:rPr>
              <a:t>验证：队列积压 / 读写探针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4150000"/>
            <a:ext cx="1900000" cy="72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00000" y="4280000"/>
            <a:ext cx="17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FFFFFF"/>
                </a:solidFill>
                <a:latin typeface="Segoe UI"/>
                <a:ea typeface="Microsoft YaHei"/>
              </a:rPr>
              <a:t>存储</a:t>
            </a:r>
          </a:p>
        </p:txBody>
      </p:sp>
      <p:sp>
        <p:nvSpPr>
          <p:cNvPr id="0" name="tx"/>
          <p:cNvSpPr/>
          <p:nvPr/>
        </p:nvSpPr>
        <p:spPr>
          <a:xfrm>
            <a:off x="2700000" y="4230000"/>
            <a:ext cx="5600000" cy="56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263238"/>
                </a:solidFill>
                <a:latin typeface="Segoe UI"/>
                <a:ea typeface="Microsoft YaHei"/>
              </a:rPr>
              <a:t>华为/深信服/浪潮存储 · 私有云 · HCI/虚拟化 · OpenStack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200" b="0" i="0" dirty="0">
                <a:solidFill>
                  <a:srgbClr val="5B6770"/>
                </a:solidFill>
                <a:latin typeface="Segoe UI"/>
                <a:ea typeface="Microsoft YaHei"/>
              </a:rPr>
              <a:t>验证：容量 / 读写 / IO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5100000"/>
            <a:ext cx="1900000" cy="72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00000" y="5230000"/>
            <a:ext cx="17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800" b="1" i="0" dirty="0">
                <a:solidFill>
                  <a:srgbClr val="FFFFFF"/>
                </a:solidFill>
                <a:latin typeface="Segoe UI"/>
                <a:ea typeface="Microsoft YaHei"/>
              </a:rPr>
              <a:t>K8s</a:t>
            </a:r>
          </a:p>
        </p:txBody>
      </p:sp>
      <p:sp>
        <p:nvSpPr>
          <p:cNvPr id="0" name="tx"/>
          <p:cNvSpPr/>
          <p:nvPr/>
        </p:nvSpPr>
        <p:spPr>
          <a:xfrm>
            <a:off x="2700000" y="5180000"/>
            <a:ext cx="5600000" cy="56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400" b="0" i="0" dirty="0">
                <a:solidFill>
                  <a:srgbClr val="263238"/>
                </a:solidFill>
                <a:latin typeface="Segoe UI"/>
                <a:ea typeface="Microsoft YaHei"/>
              </a:rPr>
              <a:t>Rancher 多集群 · kubeconfig · Argo Rollouts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200" b="0" i="0" dirty="0">
                <a:solidFill>
                  <a:srgbClr val="5B6770"/>
                </a:solidFill>
                <a:latin typeface="Segoe UI"/>
                <a:ea typeface="Microsoft YaHei"/>
              </a:rPr>
              <a:t>验证：Rollout / Pod / 业务探针（已就绪）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17 / 23</a:t>
            </a:r>
          </a:p>
        </p:txBody>
      </p:sp>
    </p:spTree>
  </p:cSld>
  <p:clrMapOvr>
    <a:override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GOVERNANCE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为什么敢把生产基础设施交给它：四道闸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0"/>
            <a:ext cx="11200000" cy="5158000"/>
          </a:xfrm>
        </p:spPr>
        <p:txBody>
          <a:bodyPr wrap="square" rtlCol="0" anchor="t">
            <a:normAutofit/>
          </a:bodyPr>
          <a:lstStyle/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模型只规划，平台管执行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逐项审批 + 一次性凭据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写后回读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恢复验证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最小权限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审计与回滚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5900000"/>
            <a:ext cx="11200000" cy="650000"/>
          </a:xfrm>
          <a:solidFill>
            <a:srgbClr val="EAF3FB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760000" y="6040000"/>
            <a:ext cx="10400000" cy="45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0B2447"/>
                </a:solidFill>
                <a:latin typeface="Segoe UI"/>
                <a:ea typeface="Microsoft YaHei"/>
              </a:rPr>
              <a:t>一句话：</a:t>
            </a: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把“人审、可回滚、可追溯”做成工程机制，而不是靠模型自觉。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18 / 23</a:t>
            </a:r>
          </a:p>
        </p:txBody>
      </p:sp>
    </p:spTree>
  </p:cSld>
  <p:clrMapOvr>
    <a:override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6858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6858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1200000" y="1900000"/>
            <a:ext cx="9000000" cy="9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9000" b="1" i="0" dirty="0">
                <a:solidFill>
                  <a:srgbClr val="00A8CC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000000"/>
            <a:ext cx="10500000" cy="8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4400" b="1" i="0" dirty="0">
                <a:solidFill>
                  <a:srgbClr val="FFFFFF"/>
                </a:solidFill>
                <a:latin typeface="Segoe UI"/>
                <a:ea typeface="Microsoft YaHei"/>
              </a:rPr>
              <a:t>路线图、风险与决策请求</a:t>
            </a:r>
          </a:p>
        </p:txBody>
      </p:sp>
      <p:sp>
        <p:nvSpPr>
          <p:cNvPr id="0" name="tx"/>
          <p:cNvSpPr/>
          <p:nvPr/>
        </p:nvSpPr>
        <p:spPr>
          <a:xfrm>
            <a:off x="1200000" y="3950000"/>
            <a:ext cx="10000000" cy="7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000" b="0" i="0" dirty="0">
                <a:solidFill>
                  <a:srgbClr val="BFC9D9"/>
                </a:solidFill>
                <a:latin typeface="Segoe UI"/>
                <a:ea typeface="Microsoft YaHei"/>
              </a:rPr>
              <a:t>三阶段落地 + 诚实风险 + 今天要拍板的事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19 / 23</a:t>
            </a:r>
          </a:p>
        </p:txBody>
      </p:sp>
    </p:spTree>
  </p:cSld>
  <p:clrMapOvr>
    <a:override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ROADMAP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作为可靠基础框架迭代开发：三阶段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520000" y="1400000"/>
            <a:ext cx="160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1620000"/>
            <a:ext cx="14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FFFFFF"/>
                </a:solidFill>
                <a:latin typeface="Segoe UI"/>
                <a:ea typeface="Microsoft YaHei"/>
              </a:rPr>
              <a:t>P0</a:t>
            </a:r>
          </a:p>
        </p:txBody>
      </p:sp>
      <p:sp>
        <p:nvSpPr>
          <p:cNvPr id="0" name="tx"/>
          <p:cNvSpPr/>
          <p:nvPr/>
        </p:nvSpPr>
        <p:spPr>
          <a:xfrm>
            <a:off x="2400000" y="1500000"/>
            <a:ext cx="7000000" cy="4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0B2447"/>
                </a:solidFill>
                <a:latin typeface="Segoe UI"/>
                <a:ea typeface="Microsoft YaHei"/>
              </a:rPr>
              <a:t>确立底座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内部镜像/Helm · SSO/审计 · RBAC preset · 试点 1–2 集群</a:t>
            </a:r>
          </a:p>
        </p:txBody>
      </p:sp>
      <p:sp>
        <p:nvSpPr>
          <p:cNvPr id="0" name="tx"/>
          <p:cNvSpPr/>
          <p:nvPr/>
        </p:nvSpPr>
        <p:spPr>
          <a:xfrm>
            <a:off x="9700000" y="1650000"/>
            <a:ext cx="2300000" cy="400000"/>
          </a:xfrm>
        </p:spPr>
        <p:txBody>
          <a:bodyPr wrap="square" rtlCol="0" anchor="t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2E86DE"/>
                </a:solidFill>
                <a:latin typeface="Segoe UI"/>
                <a:ea typeface="Microsoft YaHei"/>
              </a:rPr>
              <a:t>0–2 周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2550000"/>
            <a:ext cx="160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2770000"/>
            <a:ext cx="14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FFFFFF"/>
                </a:solidFill>
                <a:latin typeface="Segoe UI"/>
                <a:ea typeface="Microsoft YaHei"/>
              </a:rPr>
              <a:t>P1</a:t>
            </a:r>
          </a:p>
        </p:txBody>
      </p:sp>
      <p:sp>
        <p:nvSpPr>
          <p:cNvPr id="0" name="tx"/>
          <p:cNvSpPr/>
          <p:nvPr/>
        </p:nvSpPr>
        <p:spPr>
          <a:xfrm>
            <a:off x="2400000" y="2650000"/>
            <a:ext cx="7000000" cy="4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0B2447"/>
                </a:solidFill>
                <a:latin typeface="Segoe UI"/>
                <a:ea typeface="Microsoft YaHei"/>
              </a:rPr>
              <a:t>执行面扩围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Adapter SDK + OpenAPI · 每类资源恢复判据 · 受控 Runbook · 阿里云 RAM</a:t>
            </a:r>
          </a:p>
        </p:txBody>
      </p:sp>
      <p:sp>
        <p:nvSpPr>
          <p:cNvPr id="0" name="tx"/>
          <p:cNvSpPr/>
          <p:nvPr/>
        </p:nvSpPr>
        <p:spPr>
          <a:xfrm>
            <a:off x="9700000" y="2800000"/>
            <a:ext cx="2300000" cy="400000"/>
          </a:xfrm>
        </p:spPr>
        <p:txBody>
          <a:bodyPr wrap="square" rtlCol="0" anchor="t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2E86DE"/>
                </a:solidFill>
                <a:latin typeface="Segoe UI"/>
                <a:ea typeface="Microsoft YaHei"/>
              </a:rPr>
              <a:t>1–3 月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3700000"/>
            <a:ext cx="1600000" cy="90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3920000"/>
            <a:ext cx="14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FFFFFF"/>
                </a:solidFill>
                <a:latin typeface="Segoe UI"/>
                <a:ea typeface="Microsoft YaHei"/>
              </a:rPr>
              <a:t>P2</a:t>
            </a:r>
          </a:p>
        </p:txBody>
      </p:sp>
      <p:sp>
        <p:nvSpPr>
          <p:cNvPr id="0" name="tx"/>
          <p:cNvSpPr/>
          <p:nvPr/>
        </p:nvSpPr>
        <p:spPr>
          <a:xfrm>
            <a:off x="2400000" y="3800000"/>
            <a:ext cx="7000000" cy="4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0B2447"/>
                </a:solidFill>
                <a:latin typeface="Segoe UI"/>
                <a:ea typeface="Microsoft YaHei"/>
              </a:rPr>
              <a:t>编排与规模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Subagent/Workflow · PostgreSQL/Redis 租约 · OTel GenAI · Headless/CLI</a:t>
            </a:r>
          </a:p>
        </p:txBody>
      </p:sp>
      <p:sp>
        <p:nvSpPr>
          <p:cNvPr id="0" name="tx"/>
          <p:cNvSpPr/>
          <p:nvPr/>
        </p:nvSpPr>
        <p:spPr>
          <a:xfrm>
            <a:off x="9700000" y="3950000"/>
            <a:ext cx="2300000" cy="400000"/>
          </a:xfrm>
        </p:spPr>
        <p:txBody>
          <a:bodyPr wrap="square" rtlCol="0" anchor="t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2E86DE"/>
                </a:solidFill>
                <a:latin typeface="Segoe UI"/>
                <a:ea typeface="Microsoft YaHei"/>
              </a:rPr>
              <a:t>2–6 月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4850000"/>
            <a:ext cx="1600000" cy="90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620000" y="5070000"/>
            <a:ext cx="1400000" cy="50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2200" b="1" i="0" dirty="0">
                <a:solidFill>
                  <a:srgbClr val="FFFFFF"/>
                </a:solidFill>
                <a:latin typeface="Segoe UI"/>
                <a:ea typeface="Microsoft YaHei"/>
              </a:rPr>
              <a:t>P3</a:t>
            </a:r>
          </a:p>
        </p:txBody>
      </p:sp>
      <p:sp>
        <p:nvSpPr>
          <p:cNvPr id="0" name="tx"/>
          <p:cNvSpPr/>
          <p:nvPr/>
        </p:nvSpPr>
        <p:spPr>
          <a:xfrm>
            <a:off x="2400000" y="4950000"/>
            <a:ext cx="7000000" cy="400000"/>
          </a:xfrm>
        </p:spPr>
        <p:txBody>
          <a:bodyPr wrap="square" rtlCol="0" anchor="t">
            <a:normAutofit/>
          </a:bodyPr>
          <a:lstStyle/>
          <a:p>
            <a:pPr algn="l" spcBef="0" spcAft="50000">
              <a:spcBef>
                <a:spcPts val="0"/>
              </a:spcBef>
              <a:spcAft>
                <a:spcPts val="50000"/>
              </a:spcAft>
              <a:lnSpc>
                <a:spcPct val="100000"/>
              </a:lnSpc>
            </a:pPr>
            <a:r>
              <a:rPr lang="zh-CN" altLang="en-US" sz="1900" b="1" i="0" dirty="0">
                <a:solidFill>
                  <a:srgbClr val="0B2447"/>
                </a:solidFill>
                <a:latin typeface="Segoe UI"/>
                <a:ea typeface="Microsoft YaHei"/>
              </a:rPr>
              <a:t>生态与治理</a:t>
            </a:r>
          </a:p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300" b="0" i="0" dirty="0">
                <a:solidFill>
                  <a:srgbClr val="5B6770"/>
                </a:solidFill>
                <a:latin typeface="Segoe UI"/>
                <a:ea typeface="Microsoft YaHei"/>
              </a:rPr>
              <a:t>Skill 网络 · 故障注入基准集 · 模型/Skill 离线评测门禁 · 合规报告</a:t>
            </a:r>
          </a:p>
        </p:txBody>
      </p:sp>
      <p:sp>
        <p:nvSpPr>
          <p:cNvPr id="0" name="tx"/>
          <p:cNvSpPr/>
          <p:nvPr/>
        </p:nvSpPr>
        <p:spPr>
          <a:xfrm>
            <a:off x="9700000" y="5100000"/>
            <a:ext cx="2300000" cy="400000"/>
          </a:xfrm>
        </p:spPr>
        <p:txBody>
          <a:bodyPr wrap="square" rtlCol="0" anchor="t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600" b="1" i="0" dirty="0">
                <a:solidFill>
                  <a:srgbClr val="2E86DE"/>
                </a:solidFill>
                <a:latin typeface="Segoe UI"/>
                <a:ea typeface="Microsoft YaHei"/>
              </a:rPr>
              <a:t>持续</a:t>
            </a:r>
          </a:p>
        </p:txBody>
      </p:sp>
      <p:sp>
        <p:nvSpPr>
          <p:cNvPr id="0" name="tx"/>
          <p:cNvSpPr/>
          <p:nvPr/>
        </p:nvSpPr>
        <p:spPr>
          <a:xfrm>
            <a:off x="520000" y="6200000"/>
            <a:ext cx="11200000" cy="40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500" b="1" i="0" dirty="0">
                <a:solidFill>
                  <a:srgbClr val="0B2447"/>
                </a:solidFill>
                <a:latin typeface="Segoe UI"/>
                <a:ea typeface="Microsoft YaHei"/>
              </a:rPr>
              <a:t>原则：</a:t>
            </a: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先底座、再扩围、后规模；每阶段都有可验证的交付与退出标准。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20 / 23</a:t>
            </a:r>
          </a:p>
        </p:txBody>
      </p:sp>
    </p:spTree>
  </p:cSld>
  <p:clrMapOvr>
    <a:override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RISKS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风险与对策（诚实清单）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0" name="tbl"/>
          <p:cNvGraphicFramePr/>
          <p:nvPr/>
        </p:nvGraphicFramePr>
        <p:xfrm>
          <a:off x="500000" y="1350000"/>
          <a:ext cx="11000000" cy="33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gridCol w="2000000"/>
              <a:gridCol w="3400000"/>
              <a:gridCol w="5600000"/>
              <a:tr h="50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风险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200" b="1" i="0" dirty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对策</a:t>
                      </a:r>
                    </a:p>
                  </a:txBody>
                  <a:tcPr>
                    <a:solidFill>
                      <a:srgbClr val="0B2447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上游 DSH 为 Preview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Python SDK 0.0.0.dev0，可能破坏性变更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不替换执行面；仅作可选 Planner，稳定版+SBOM+漏洞扫描后才启用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单副本存储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当前 API 要求副本=1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引入分布式租约/事务存储前不宣称多副本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License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PolyForm Noncommercial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内部自用属非商业；落地前取得维护者书面授权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供应链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镜像/依赖/模型网关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国内镜像 + 哈希锁定 + pip-audit + SBOM + TLS</a:t>
                      </a:r>
                    </a:p>
                  </a:txBody>
                  <a:tcPr>
                    <a:solidFill>
                      <a:srgbClr val="EDF2F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1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模型不确定性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模型输出不可信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  <a:tc>
                  <a:txBody>
                    <a:bodyPr/>
                    <a:lstStyle/>
                    <a:p>
                      <a:pPr algn="l" marL="60000" marR="60000">
                        <a:lnSpc>
                          <a:spcPct val="105000"/>
                        </a:lnSpc>
                      </a:pPr>
                      <a:r>
                        <a:rPr lang="zh-CN" altLang="en-US" sz="1100" b="0" i="0" dirty="0">
                          <a:solidFill>
                            <a:srgbClr val="263238"/>
                          </a:solidFill>
                          <a:latin typeface="Segoe UI"/>
                          <a:ea typeface="Microsoft YaHei"/>
                        </a:rPr>
                        <a:t>动作目录 + 审批 + 回读 + 验证四道闸约束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anchor val="ctr"/>
                  </a:tcPr>
                </a:tc>
              </a:tr>
            </a:tbl>
          </a:graphicData>
        </a:graphic>
      </p:graphicFrame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21 / 23</a:t>
            </a:r>
          </a:p>
        </p:txBody>
      </p:sp>
    </p:spTree>
  </p:cSld>
  <p:clrMapOvr>
    <a:override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VALUE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价值主张：为什么现在就该定下来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0"/>
            <a:ext cx="11200000" cy="5158000"/>
          </a:xfrm>
        </p:spPr>
        <p:txBody>
          <a:bodyPr wrap="square" rtlCol="0" anchor="t">
            <a:normAutofit/>
          </a:bodyPr>
          <a:lstStyle/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不是再买工具，而是升级底座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可证明的可靠性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安全边界明确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一次建设、全栈复用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持续增值</a:t>
            </a:r>
          </a:p>
          <a:p>
            <a:pPr algn="l" spcBef="0" spcAft="75000">
              <a:spcBef>
                <a:spcPts val="0"/>
              </a:spcBef>
              <a:spcAft>
                <a:spcPts val="75000"/>
              </a:spcAft>
              <a:lnSpc>
                <a:spcPct val="112000"/>
              </a:lnSpc>
            </a:pPr>
            <a:r>
              <a:rPr lang="zh-CN" altLang="en-US" sz="15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500" b="0" i="0" dirty="0">
                <a:solidFill>
                  <a:srgbClr val="37474F"/>
                </a:solidFill>
                <a:latin typeface="Segoe UI"/>
                <a:ea typeface="Microsoft YaHei"/>
              </a:rPr>
              <a:t>对齐行业方向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22 / 23</a:t>
            </a:r>
          </a:p>
        </p:txBody>
      </p:sp>
    </p:spTree>
  </p:cSld>
  <p:clrMapOvr>
    <a:override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"/>
          <p:cNvSpPr/>
          <p:nvPr/>
        </p:nvSpPr>
        <p:spPr>
          <a:xfrm>
            <a:off x="0" y="0"/>
            <a:ext cx="12192000" cy="900000"/>
          </a:xfr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rect"/>
          <p:cNvSpPr/>
          <p:nvPr/>
        </p:nvSpPr>
        <p:spPr>
          <a:xfrm>
            <a:off x="0" y="0"/>
            <a:ext cx="160000" cy="900000"/>
          </a:xfrm>
          <a:solidFill>
            <a:srgbClr val="2E86DE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20000"/>
            <a:ext cx="11000000" cy="420000"/>
          </a:xfrm>
        </p:spPr>
        <p:txBody>
          <a:bodyPr wrap="square" rtlCol="0" anchor="t">
            <a:normAutofit/>
          </a:bodyPr>
          <a:lstStyle/>
          <a:p>
            <a:pPr algn="l" spcBef="0" spcAft="40000">
              <a:spcBef>
                <a:spcPts val="0"/>
              </a:spcBef>
              <a:spcAft>
                <a:spcPts val="40000"/>
              </a:spcAft>
              <a:lnSpc>
                <a:spcPct val="100000"/>
              </a:lnSpc>
            </a:pPr>
            <a:r>
              <a:rPr lang="zh-CN" altLang="en-US" sz="1200" b="1" i="0" dirty="0">
                <a:solidFill>
                  <a:srgbClr val="2E86DE"/>
                </a:solidFill>
                <a:latin typeface="Segoe UI"/>
                <a:ea typeface="Microsoft YaHei"/>
              </a:rPr>
              <a:t>DECISION</a:t>
            </a:r>
          </a:p>
        </p:txBody>
      </p:sp>
      <p:sp>
        <p:nvSpPr>
          <p:cNvPr id="0" name="tx"/>
          <p:cNvSpPr/>
          <p:nvPr/>
        </p:nvSpPr>
        <p:spPr>
          <a:xfrm>
            <a:off x="520000" y="420000"/>
            <a:ext cx="11200000" cy="460000"/>
          </a:xfrm>
        </p:spPr>
        <p:txBody>
          <a:bodyPr wrap="square" rtlCol="0" anchor="t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3000" b="1" i="0" dirty="0">
                <a:solidFill>
                  <a:srgbClr val="0B2447"/>
                </a:solidFill>
                <a:latin typeface="Segoe UI"/>
                <a:ea typeface="Microsoft YaHei"/>
              </a:rPr>
              <a:t>请求决策：把 CISRE 定为内部统一运维平台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880000"/>
            <a:ext cx="1300000" cy="50000"/>
          </a:xfrm>
          <a:solidFill>
            <a:srgbClr val="00A8CC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20000" y="1300000"/>
            <a:ext cx="11200000" cy="5058000"/>
          </a:xfrm>
        </p:spPr>
        <p:txBody>
          <a:bodyPr wrap="square" rtlCol="0" anchor="t">
            <a:normAutofit/>
          </a:bodyPr>
          <a:lstStyle/>
          <a:p>
            <a:pPr algn="l" spcBef="0" spcAft="85000">
              <a:spcBef>
                <a:spcPts val="0"/>
              </a:spcBef>
              <a:spcAft>
                <a:spcPts val="85000"/>
              </a:spcAft>
              <a:lnSpc>
                <a:spcPct val="112000"/>
              </a:lnSpc>
            </a:pPr>
            <a:r>
              <a:rPr lang="zh-CN" altLang="en-US" sz="1800" b="1" i="0" dirty="0">
                <a:solidFill>
                  <a:srgbClr val="2E86DE"/>
                </a:solidFill>
                <a:latin typeface="Segoe UI"/>
                <a:ea typeface="Microsoft YaHei"/>
              </a:rPr>
              <a:t>•  </a:t>
            </a:r>
            <a:r>
              <a:rPr lang="zh-CN" altLang="en-US" sz="1800" b="0" i="0" dirty="0">
                <a:solidFill>
                  <a:srgbClr val="263238"/>
                </a:solidFill>
                <a:latin typeface="Segoe UI"/>
                <a:ea typeface="Microsoft YaHei"/>
              </a:rPr>
              <a:t>今天要拍板的三件事</a:t>
            </a:r>
          </a:p>
          <a:p>
            <a:pPr algn="l" spcBef="0" spcAft="85000">
              <a:spcBef>
                <a:spcPts val="0"/>
              </a:spcBef>
              <a:spcAft>
                <a:spcPts val="85000"/>
              </a:spcAft>
              <a:lnSpc>
                <a:spcPct val="112000"/>
              </a:lnSpc>
            </a:pP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600" b="0" i="0" dirty="0">
                <a:solidFill>
                  <a:srgbClr val="37474F"/>
                </a:solidFill>
                <a:latin typeface="Segoe UI"/>
                <a:ea typeface="Microsoft YaHei"/>
              </a:rPr>
              <a:t>1. 确认 CISRE 为内部统一运维平台 / SRE 基础框架（P0 立项）</a:t>
            </a:r>
          </a:p>
          <a:p>
            <a:pPr algn="l" spcBef="0" spcAft="85000">
              <a:spcBef>
                <a:spcPts val="0"/>
              </a:spcBef>
              <a:spcAft>
                <a:spcPts val="85000"/>
              </a:spcAft>
              <a:lnSpc>
                <a:spcPct val="112000"/>
              </a:lnSpc>
            </a:pP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600" b="0" i="0" dirty="0">
                <a:solidFill>
                  <a:srgbClr val="37474F"/>
                </a:solidFill>
                <a:latin typeface="Segoe UI"/>
                <a:ea typeface="Microsoft YaHei"/>
              </a:rPr>
              <a:t>2. 授权基础设施接入：K8s → 数据库 → VM → 云（分阶段，先只读后变更）</a:t>
            </a:r>
          </a:p>
          <a:p>
            <a:pPr algn="l" spcBef="0" spcAft="85000">
              <a:spcBef>
                <a:spcPts val="0"/>
              </a:spcBef>
              <a:spcAft>
                <a:spcPts val="85000"/>
              </a:spcAft>
              <a:lnSpc>
                <a:spcPct val="112000"/>
              </a:lnSpc>
            </a:pP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600" b="0" i="0" dirty="0">
                <a:solidFill>
                  <a:srgbClr val="37474F"/>
                </a:solidFill>
                <a:latin typeface="Segoe UI"/>
                <a:ea typeface="Microsoft YaHei"/>
              </a:rPr>
              <a:t>3. 组建平台组并分配 P1 资源（Adapter SDK + 受控执行器 + 编排）</a:t>
            </a:r>
          </a:p>
          <a:p>
            <a:pPr algn="l" spcBef="0" spcAft="85000">
              <a:spcBef>
                <a:spcPts val="0"/>
              </a:spcBef>
              <a:spcAft>
                <a:spcPts val="85000"/>
              </a:spcAft>
              <a:lnSpc>
                <a:spcPct val="112000"/>
              </a:lnSpc>
            </a:pPr>
            <a:r>
              <a:rPr lang="zh-CN" altLang="en-US" sz="1800" b="1" i="0" dirty="0">
                <a:solidFill>
                  <a:srgbClr val="2E86DE"/>
                </a:solidFill>
                <a:latin typeface="Segoe UI"/>
                <a:ea typeface="Microsoft YaHei"/>
              </a:rPr>
              <a:t>•  </a:t>
            </a:r>
            <a:r>
              <a:rPr lang="zh-CN" altLang="en-US" sz="1800" b="0" i="0" dirty="0">
                <a:solidFill>
                  <a:srgbClr val="263238"/>
                </a:solidFill>
                <a:latin typeface="Segoe UI"/>
                <a:ea typeface="Microsoft YaHei"/>
              </a:rPr>
              <a:t>建议第一步</a:t>
            </a:r>
          </a:p>
          <a:p>
            <a:pPr algn="l" spcBef="0" spcAft="85000">
              <a:spcBef>
                <a:spcPts val="0"/>
              </a:spcBef>
              <a:spcAft>
                <a:spcPts val="85000"/>
              </a:spcAft>
              <a:lnSpc>
                <a:spcPct val="112000"/>
              </a:lnSpc>
            </a:pPr>
            <a:r>
              <a:rPr lang="zh-CN" altLang="en-US" sz="1600" b="0" i="0" dirty="0">
                <a:solidFill>
                  <a:srgbClr val="5B6770"/>
                </a:solidFill>
                <a:latin typeface="Segoe UI"/>
                <a:ea typeface="Microsoft YaHei"/>
              </a:rPr>
              <a:t>–  </a:t>
            </a:r>
            <a:r>
              <a:rPr lang="zh-CN" altLang="en-US" sz="1600" b="0" i="0" dirty="0">
                <a:solidFill>
                  <a:srgbClr val="37474F"/>
                </a:solidFill>
                <a:latin typeface="Segoe UI"/>
                <a:ea typeface="Microsoft YaHei"/>
              </a:rPr>
              <a:t>两周内完成内部镜像/Helm 上线 + SSO/审计基线 + 1–2 个集群试点，用一次真实故障闭环做验收</a:t>
            </a:r>
          </a:p>
        </p:txBody>
      </p:sp>
      <p:sp>
        <p:nvSpPr>
          <p:cNvPr id="0" name="rect"/>
          <p:cNvSpPr/>
          <p:nvPr/>
        </p:nvSpPr>
        <p:spPr>
          <a:xfrm>
            <a:off x="520000" y="5300000"/>
            <a:ext cx="11200000" cy="1200000"/>
          </a:xfrm>
          <a:solidFill>
            <a:srgbClr val="0B2447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800000" y="5500000"/>
            <a:ext cx="10400000" cy="800000"/>
          </a:xfrm>
        </p:spPr>
        <p:txBody>
          <a:bodyPr wrap="square" rtlCol="0" anchor="t">
            <a:normAutofit/>
          </a:bodyPr>
          <a:lstStyle/>
          <a:p>
            <a:pPr algn="ctr" spcBef="0" spcAft="60000">
              <a:spcBef>
                <a:spcPts val="0"/>
              </a:spcBef>
              <a:spcAft>
                <a:spcPts val="60000"/>
              </a:spcAft>
              <a:lnSpc>
                <a:spcPct val="100000"/>
              </a:lnSpc>
            </a:pPr>
            <a:r>
              <a:rPr lang="zh-CN" altLang="en-US" sz="2600" b="1" i="0" dirty="0">
                <a:solidFill>
                  <a:srgbClr val="FFFFFF"/>
                </a:solidFill>
                <a:latin typeface="Segoe UI"/>
                <a:ea typeface="Microsoft YaHei"/>
              </a:rPr>
              <a:t>让基础设施自解释、可安全自愈、可证明恢复。</a:t>
            </a:r>
          </a:p>
          <a:p>
            <a:pPr algn="ct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500" b="0" i="0" dirty="0">
                <a:solidFill>
                  <a:srgbClr val="00A8CC"/>
                </a:solidFill>
                <a:latin typeface="Segoe UI"/>
                <a:ea typeface="Microsoft YaHei"/>
              </a:rPr>
              <a:t>—— CISRE · 企业统一运维平台</a:t>
            </a:r>
          </a:p>
        </p:txBody>
      </p:sp>
      <p:sp>
        <p:nvSpPr>
          <p:cNvPr id="0" name="rect"/>
          <p:cNvSpPr/>
          <p:nvPr/>
        </p:nvSpPr>
        <p:spPr>
          <a:xfrm>
            <a:off x="0" y="6558000"/>
            <a:ext cx="12192000" cy="300000"/>
          </a:xfrm>
          <a:solidFill>
            <a:srgbClr val="F1F5FA"/>
          </a:solidFill>
          <a:ln>
            <a:noFill/>
          </a:ln>
        </p:spPr>
        <p:txBody>
          <a:bodyPr/>
          <a:lstStyle/>
          <a:p/>
        </p:txBody>
      </p:sp>
      <p:sp>
        <p:nvSpPr>
          <p:cNvPr id="0" name="tx"/>
          <p:cNvSpPr/>
          <p:nvPr/>
        </p:nvSpPr>
        <p:spPr>
          <a:xfrm>
            <a:off x="500000" y="6598000"/>
            <a:ext cx="8000000" cy="220000"/>
          </a:xfrm>
        </p:spPr>
        <p:txBody>
          <a:bodyPr wrap="square" rtlCol="0" anchor="ctr">
            <a:normAutofit/>
          </a:bodyPr>
          <a:lstStyle/>
          <a:p>
            <a:pPr algn="l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CISRE · 企业统一运维平台 · 内部 SRE Harness</a:t>
            </a:r>
          </a:p>
        </p:txBody>
      </p:sp>
      <p:sp>
        <p:nvSpPr>
          <p:cNvPr id="0" name="tx"/>
          <p:cNvSpPr/>
          <p:nvPr/>
        </p:nvSpPr>
        <p:spPr>
          <a:xfrm>
            <a:off x="10992000" y="6598000"/>
            <a:ext cx="700000" cy="220000"/>
          </a:xfrm>
        </p:spPr>
        <p:txBody>
          <a:bodyPr wrap="square" rtlCol="0" anchor="ctr">
            <a:normAutofit/>
          </a:bodyPr>
          <a:lstStyle/>
          <a:p>
            <a:pPr algn="r" spcBef="0" spcAft="0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lang="zh-CN" altLang="en-US" sz="1000" b="0" i="0" dirty="0">
                <a:solidFill>
                  <a:srgbClr val="5B6770"/>
                </a:solidFill>
                <a:latin typeface="Segoe UI"/>
                <a:ea typeface="Microsoft YaHei"/>
              </a:rPr>
              <a:t>23 / 23</a:t>
            </a:r>
          </a:p>
        </p:txBody>
      </p:sp>
    </p:spTree>
  </p:cSld>
  <p:clrMapOvr>
    <a:overrideClrMapping/>
  </p:clrMapOvr>
</p:sld>
</file>

<file path=ppt/theme/theme1.xml><?xml version="1.0" encoding="utf-8"?>
<a:theme xmlns:a="http://schemas.openxmlformats.org/drawingml/2006/main" name="CISRE">
  <a:themeElements>
    <a:clrScheme name="CISRE">
      <a:dk1>
        <a:srgbClr val="0B2447"/>
      </a:dk1>
      <a:lt1>
        <a:srgbClr val="FFFFFF"/>
      </a:lt1>
      <a:dk2>
        <a:srgbClr val="14366B"/>
      </a:dk2>
      <a:lt2>
        <a:srgbClr val="F1F5FA"/>
      </a:lt2>
      <a:accent1>
        <a:srgbClr val="2E86DE"/>
      </a:accent1>
      <a:accent2>
        <a:srgbClr val="00A8CC"/>
      </a:accent2>
      <a:accent3>
        <a:srgbClr val="00A8A8"/>
      </a:accent3>
      <a:accent4>
        <a:srgbClr val="1E8449"/>
      </a:accent4>
      <a:accent5>
        <a:srgbClr val="C0392B"/>
      </a:accent5>
      <a:accent6>
        <a:srgbClr val="B9770E"/>
      </a:accent6>
      <a:hlink>
        <a:srgbClr val="2E86DE"/>
      </a:hlink>
      <a:folHlink>
        <a:srgbClr val="14366B"/>
      </a:folHlink>
    </a:clrScheme>
    <a:fontScheme name="CISRE">
      <a:majorFont>
        <a:latin typeface="Segoe UI"/>
        <a:ea typeface="Microsoft YaHei"/>
      </a:majorFont>
      <a:minorFont>
        <a:latin typeface="Segoe UI"/>
        <a:ea typeface="Microsoft YaHei"/>
      </a:minorFont>
    </a:fontScheme>
    <a:fmtScheme name="CISR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CISRE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CISRE 企业统一运维平台立项提案</dc:title>
  <dc:creator>CISRE Contributors</dc:creator>
  <cp:lastModifiedBy>CISRE</cp:lastModifiedBy>
  <cp:revision>1</cp:revision>
</cp:coreProperties>
</file>